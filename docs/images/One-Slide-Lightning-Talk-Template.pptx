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7974" autoAdjust="0"/>
  </p:normalViewPr>
  <p:slideViewPr>
    <p:cSldViewPr snapToGrid="0" snapToObjects="1">
      <p:cViewPr varScale="1">
        <p:scale>
          <a:sx n="92" d="100"/>
          <a:sy n="92" d="100"/>
        </p:scale>
        <p:origin x="66" y="156"/>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dLbls>
          <c:showLegendKey val="0"/>
          <c:showVal val="0"/>
          <c:showCatName val="0"/>
          <c:showSerName val="0"/>
          <c:showPercent val="0"/>
          <c:showBubbleSize val="0"/>
        </c:dLbls>
        <c:marker val="1"/>
        <c:smooth val="0"/>
        <c:axId val="2094734554"/>
        <c:axId val="2094734552"/>
        <c:extLst>
          <c:ext xmlns:c15="http://schemas.microsoft.com/office/drawing/2012/chart" uri="{02D57815-91ED-43cb-92C2-25804820EDAC}">
            <c15:filteredLineSeries>
              <c15:ser>
                <c:idx val="0"/>
                <c:order val="0"/>
                <c:tx>
                  <c:strRef>
                    <c:extLst>
                      <c:ext uri="{02D57815-91ED-43cb-92C2-25804820EDAC}">
                        <c15:formulaRef>
                          <c15:sqref>Sheet1!$B$1</c15:sqref>
                        </c15:formulaRef>
                      </c:ext>
                    </c:extLst>
                    <c:strCache>
                      <c:ptCount val="1"/>
                      <c:pt idx="0">
                        <c:v>t1</c:v>
                      </c:pt>
                    </c:strCache>
                  </c:strRef>
                </c:tx>
                <c:spPr>
                  <a:ln>
                    <a:noFill/>
                  </a:ln>
                  <a:effectLst/>
                </c:spPr>
                <c:marker>
                  <c:symbol val="circle"/>
                  <c:size val="5"/>
                  <c:spPr>
                    <a:solidFill>
                      <a:srgbClr val="B9C6D1"/>
                    </a:solidFill>
                    <a:ln w="9525" cap="flat">
                      <a:solidFill>
                        <a:srgbClr val="B9C6D1"/>
                      </a:solidFill>
                      <a:prstDash val="solid"/>
                      <a:round/>
                    </a:ln>
                    <a:effectLst/>
                  </c:spPr>
                </c:marker>
                <c:cat>
                  <c:strRef>
                    <c:extLst>
                      <c:ext uri="{02D57815-91ED-43cb-92C2-25804820EDAC}">
                        <c15:formulaRef>
                          <c15:sqref>Sheet1!$A$2:$A$3</c15:sqref>
                        </c15:formulaRef>
                      </c:ext>
                    </c:extLst>
                    <c:strCache>
                      <c:ptCount val="2"/>
                      <c:pt idx="0">
                        <c:v>arm supported</c:v>
                      </c:pt>
                      <c:pt idx="1">
                        <c:v>arm free</c:v>
                      </c:pt>
                    </c:strCache>
                  </c:strRef>
                </c:cat>
                <c:val>
                  <c:numRef>
                    <c:extLst>
                      <c:ext uri="{02D57815-91ED-43cb-92C2-25804820EDAC}">
                        <c15:formulaRef>
                          <c15:sqref>Sheet1!$B$2:$B$3</c15:sqref>
                        </c15:formulaRef>
                      </c:ext>
                    </c:extLst>
                    <c:numCache>
                      <c:formatCode>General</c:formatCode>
                      <c:ptCount val="2"/>
                      <c:pt idx="0">
                        <c:v>192.7</c:v>
                      </c:pt>
                      <c:pt idx="1">
                        <c:v>218.5</c:v>
                      </c:pt>
                    </c:numCache>
                  </c:numRef>
                </c:val>
                <c:smooth val="0"/>
                <c:extLst>
                  <c:ext xmlns:c16="http://schemas.microsoft.com/office/drawing/2014/chart" uri="{C3380CC4-5D6E-409C-BE32-E72D297353CC}">
                    <c16:uniqueId val="{00000000-0FBC-42F5-9899-D82AAF9A7963}"/>
                  </c:ext>
                </c:extLst>
              </c15:ser>
            </c15:filteredLineSeries>
            <c15:filteredLineSeries>
              <c15:ser>
                <c:idx val="1"/>
                <c:order val="1"/>
                <c:tx>
                  <c:strRef>
                    <c:extLst xmlns:c15="http://schemas.microsoft.com/office/drawing/2012/chart">
                      <c:ext xmlns:c15="http://schemas.microsoft.com/office/drawing/2012/chart" uri="{02D57815-91ED-43cb-92C2-25804820EDAC}">
                        <c15:formulaRef>
                          <c15:sqref>Sheet1!$C$1</c15:sqref>
                        </c15:formulaRef>
                      </c:ext>
                    </c:extLst>
                    <c:strCache>
                      <c:ptCount val="1"/>
                      <c:pt idx="0">
                        <c:v>t2</c:v>
                      </c:pt>
                    </c:strCache>
                  </c:strRef>
                </c:tx>
                <c:spPr>
                  <a:ln>
                    <a:noFill/>
                  </a:ln>
                  <a:effectLst/>
                </c:spPr>
                <c:marker>
                  <c:symbol val="circle"/>
                  <c:size val="5"/>
                  <c:spPr>
                    <a:solidFill>
                      <a:srgbClr val="B9C6D1"/>
                    </a:solidFill>
                    <a:ln w="9525" cap="flat">
                      <a:solidFill>
                        <a:srgbClr val="B9C6D1"/>
                      </a:solidFill>
                      <a:prstDash val="solid"/>
                      <a:round/>
                    </a:ln>
                    <a:effectLst/>
                  </c:spPr>
                </c:marker>
                <c:cat>
                  <c:strRef>
                    <c:extLst xmlns:c15="http://schemas.microsoft.com/office/drawing/2012/chart">
                      <c:ext xmlns:c15="http://schemas.microsoft.com/office/drawing/2012/chart" uri="{02D57815-91ED-43cb-92C2-25804820EDAC}">
                        <c15:formulaRef>
                          <c15:sqref>Sheet1!$A$2:$A$3</c15:sqref>
                        </c15:formulaRef>
                      </c:ext>
                    </c:extLst>
                    <c:strCache>
                      <c:ptCount val="2"/>
                      <c:pt idx="0">
                        <c:v>arm supported</c:v>
                      </c:pt>
                      <c:pt idx="1">
                        <c:v>arm free</c:v>
                      </c:pt>
                    </c:strCache>
                  </c:strRef>
                </c:cat>
                <c:val>
                  <c:numRef>
                    <c:extLst xmlns:c15="http://schemas.microsoft.com/office/drawing/2012/chart">
                      <c:ext xmlns:c15="http://schemas.microsoft.com/office/drawing/2012/chart" uri="{02D57815-91ED-43cb-92C2-25804820EDAC}">
                        <c15:formulaRef>
                          <c15:sqref>Sheet1!$C$2:$C$3</c15:sqref>
                        </c15:formulaRef>
                      </c:ext>
                    </c:extLst>
                    <c:numCache>
                      <c:formatCode>General</c:formatCode>
                      <c:ptCount val="2"/>
                      <c:pt idx="0">
                        <c:v>205</c:v>
                      </c:pt>
                      <c:pt idx="1">
                        <c:v>230.8</c:v>
                      </c:pt>
                    </c:numCache>
                  </c:numRef>
                </c:val>
                <c:smooth val="0"/>
                <c:extLst xmlns:c15="http://schemas.microsoft.com/office/drawing/2012/chart">
                  <c:ext xmlns:c16="http://schemas.microsoft.com/office/drawing/2014/chart" uri="{C3380CC4-5D6E-409C-BE32-E72D297353CC}">
                    <c16:uniqueId val="{00000001-0FBC-42F5-9899-D82AAF9A7963}"/>
                  </c:ext>
                </c:extLst>
              </c15:ser>
            </c15:filteredLineSeries>
            <c15:filteredLine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t3</c:v>
                      </c:pt>
                    </c:strCache>
                  </c:strRef>
                </c:tx>
                <c:spPr>
                  <a:ln>
                    <a:noFill/>
                  </a:ln>
                  <a:effectLst/>
                </c:spPr>
                <c:marker>
                  <c:symbol val="circle"/>
                  <c:size val="5"/>
                  <c:spPr>
                    <a:solidFill>
                      <a:srgbClr val="B9C6D1"/>
                    </a:solidFill>
                    <a:ln w="9525" cap="flat">
                      <a:solidFill>
                        <a:srgbClr val="B9C6D1"/>
                      </a:solidFill>
                      <a:prstDash val="solid"/>
                      <a:round/>
                    </a:ln>
                    <a:effectLst/>
                  </c:spPr>
                </c:marker>
                <c:cat>
                  <c:strRef>
                    <c:extLst xmlns:c15="http://schemas.microsoft.com/office/drawing/2012/chart">
                      <c:ext xmlns:c15="http://schemas.microsoft.com/office/drawing/2012/chart" uri="{02D57815-91ED-43cb-92C2-25804820EDAC}">
                        <c15:formulaRef>
                          <c15:sqref>Sheet1!$A$2:$A$3</c15:sqref>
                        </c15:formulaRef>
                      </c:ext>
                    </c:extLst>
                    <c:strCache>
                      <c:ptCount val="2"/>
                      <c:pt idx="0">
                        <c:v>arm supported</c:v>
                      </c:pt>
                      <c:pt idx="1">
                        <c:v>arm free</c:v>
                      </c:pt>
                    </c:strCache>
                  </c:strRef>
                </c:cat>
                <c:val>
                  <c:numRef>
                    <c:extLst xmlns:c15="http://schemas.microsoft.com/office/drawing/2012/chart">
                      <c:ext xmlns:c15="http://schemas.microsoft.com/office/drawing/2012/chart" uri="{02D57815-91ED-43cb-92C2-25804820EDAC}">
                        <c15:formulaRef>
                          <c15:sqref>Sheet1!$D$2:$D$3</c15:sqref>
                        </c15:formulaRef>
                      </c:ext>
                    </c:extLst>
                    <c:numCache>
                      <c:formatCode>General</c:formatCode>
                      <c:ptCount val="2"/>
                      <c:pt idx="0">
                        <c:v>10</c:v>
                      </c:pt>
                      <c:pt idx="1">
                        <c:v>211.9</c:v>
                      </c:pt>
                    </c:numCache>
                  </c:numRef>
                </c:val>
                <c:smooth val="0"/>
                <c:extLst xmlns:c15="http://schemas.microsoft.com/office/drawing/2012/chart">
                  <c:ext xmlns:c16="http://schemas.microsoft.com/office/drawing/2014/chart" uri="{C3380CC4-5D6E-409C-BE32-E72D297353CC}">
                    <c16:uniqueId val="{00000002-0FBC-42F5-9899-D82AAF9A7963}"/>
                  </c:ext>
                </c:extLst>
              </c15:ser>
            </c15:filteredLineSeries>
            <c15:filteredLineSeries>
              <c15:ser>
                <c:idx val="3"/>
                <c:order val="3"/>
                <c:tx>
                  <c:strRef>
                    <c:extLst xmlns:c15="http://schemas.microsoft.com/office/drawing/2012/chart">
                      <c:ext xmlns:c15="http://schemas.microsoft.com/office/drawing/2012/chart" uri="{02D57815-91ED-43cb-92C2-25804820EDAC}">
                        <c15:formulaRef>
                          <c15:sqref>Sheet1!$E$1</c15:sqref>
                        </c15:formulaRef>
                      </c:ext>
                    </c:extLst>
                    <c:strCache>
                      <c:ptCount val="1"/>
                      <c:pt idx="0">
                        <c:v>t4</c:v>
                      </c:pt>
                    </c:strCache>
                  </c:strRef>
                </c:tx>
                <c:spPr>
                  <a:ln>
                    <a:noFill/>
                  </a:ln>
                  <a:effectLst/>
                </c:spPr>
                <c:marker>
                  <c:symbol val="circle"/>
                  <c:size val="5"/>
                  <c:spPr>
                    <a:solidFill>
                      <a:srgbClr val="B9C6D1"/>
                    </a:solidFill>
                    <a:ln w="9525" cap="flat">
                      <a:solidFill>
                        <a:srgbClr val="B9C6D1"/>
                      </a:solidFill>
                      <a:prstDash val="solid"/>
                      <a:round/>
                    </a:ln>
                    <a:effectLst/>
                  </c:spPr>
                </c:marker>
                <c:cat>
                  <c:strRef>
                    <c:extLst xmlns:c15="http://schemas.microsoft.com/office/drawing/2012/chart">
                      <c:ext xmlns:c15="http://schemas.microsoft.com/office/drawing/2012/chart" uri="{02D57815-91ED-43cb-92C2-25804820EDAC}">
                        <c15:formulaRef>
                          <c15:sqref>Sheet1!$A$2:$A$3</c15:sqref>
                        </c15:formulaRef>
                      </c:ext>
                    </c:extLst>
                    <c:strCache>
                      <c:ptCount val="2"/>
                      <c:pt idx="0">
                        <c:v>arm supported</c:v>
                      </c:pt>
                      <c:pt idx="1">
                        <c:v>arm free</c:v>
                      </c:pt>
                    </c:strCache>
                  </c:strRef>
                </c:cat>
                <c:val>
                  <c:numRef>
                    <c:extLst xmlns:c15="http://schemas.microsoft.com/office/drawing/2012/chart">
                      <c:ext xmlns:c15="http://schemas.microsoft.com/office/drawing/2012/chart" uri="{02D57815-91ED-43cb-92C2-25804820EDAC}">
                        <c15:formulaRef>
                          <c15:sqref>Sheet1!$E$2:$E$3</c15:sqref>
                        </c15:formulaRef>
                      </c:ext>
                    </c:extLst>
                    <c:numCache>
                      <c:formatCode>General</c:formatCode>
                      <c:ptCount val="2"/>
                      <c:pt idx="0">
                        <c:v>210</c:v>
                      </c:pt>
                      <c:pt idx="1">
                        <c:v>227.2</c:v>
                      </c:pt>
                    </c:numCache>
                  </c:numRef>
                </c:val>
                <c:smooth val="0"/>
                <c:extLst xmlns:c15="http://schemas.microsoft.com/office/drawing/2012/chart">
                  <c:ext xmlns:c16="http://schemas.microsoft.com/office/drawing/2014/chart" uri="{C3380CC4-5D6E-409C-BE32-E72D297353CC}">
                    <c16:uniqueId val="{00000003-0FBC-42F5-9899-D82AAF9A7963}"/>
                  </c:ext>
                </c:extLst>
              </c15:ser>
            </c15:filteredLineSeries>
            <c15:filteredLineSeries>
              <c15:ser>
                <c:idx val="4"/>
                <c:order val="4"/>
                <c:tx>
                  <c:strRef>
                    <c:extLst xmlns:c15="http://schemas.microsoft.com/office/drawing/2012/chart">
                      <c:ext xmlns:c15="http://schemas.microsoft.com/office/drawing/2012/chart" uri="{02D57815-91ED-43cb-92C2-25804820EDAC}">
                        <c15:formulaRef>
                          <c15:sqref>Sheet1!$F$1</c15:sqref>
                        </c15:formulaRef>
                      </c:ext>
                    </c:extLst>
                    <c:strCache>
                      <c:ptCount val="1"/>
                      <c:pt idx="0">
                        <c:v>t5</c:v>
                      </c:pt>
                    </c:strCache>
                  </c:strRef>
                </c:tx>
                <c:spPr>
                  <a:ln>
                    <a:noFill/>
                  </a:ln>
                  <a:effectLst/>
                </c:spPr>
                <c:marker>
                  <c:symbol val="circle"/>
                  <c:size val="5"/>
                  <c:spPr>
                    <a:solidFill>
                      <a:srgbClr val="B9C6D1"/>
                    </a:solidFill>
                    <a:ln w="9525" cap="flat">
                      <a:solidFill>
                        <a:srgbClr val="B9C6D1"/>
                      </a:solidFill>
                      <a:prstDash val="solid"/>
                      <a:round/>
                    </a:ln>
                    <a:effectLst/>
                  </c:spPr>
                </c:marker>
                <c:cat>
                  <c:strRef>
                    <c:extLst xmlns:c15="http://schemas.microsoft.com/office/drawing/2012/chart">
                      <c:ext xmlns:c15="http://schemas.microsoft.com/office/drawing/2012/chart" uri="{02D57815-91ED-43cb-92C2-25804820EDAC}">
                        <c15:formulaRef>
                          <c15:sqref>Sheet1!$A$2:$A$3</c15:sqref>
                        </c15:formulaRef>
                      </c:ext>
                    </c:extLst>
                    <c:strCache>
                      <c:ptCount val="2"/>
                      <c:pt idx="0">
                        <c:v>arm supported</c:v>
                      </c:pt>
                      <c:pt idx="1">
                        <c:v>arm free</c:v>
                      </c:pt>
                    </c:strCache>
                  </c:strRef>
                </c:cat>
                <c:val>
                  <c:numRef>
                    <c:extLst xmlns:c15="http://schemas.microsoft.com/office/drawing/2012/chart">
                      <c:ext xmlns:c15="http://schemas.microsoft.com/office/drawing/2012/chart" uri="{02D57815-91ED-43cb-92C2-25804820EDAC}">
                        <c15:formulaRef>
                          <c15:sqref>Sheet1!$F$2:$F$3</c15:sqref>
                        </c15:formulaRef>
                      </c:ext>
                    </c:extLst>
                    <c:numCache>
                      <c:formatCode>General</c:formatCode>
                      <c:ptCount val="2"/>
                      <c:pt idx="0">
                        <c:v>193.8</c:v>
                      </c:pt>
                      <c:pt idx="1">
                        <c:v>223.6</c:v>
                      </c:pt>
                    </c:numCache>
                  </c:numRef>
                </c:val>
                <c:smooth val="0"/>
                <c:extLst xmlns:c15="http://schemas.microsoft.com/office/drawing/2012/chart">
                  <c:ext xmlns:c16="http://schemas.microsoft.com/office/drawing/2014/chart" uri="{C3380CC4-5D6E-409C-BE32-E72D297353CC}">
                    <c16:uniqueId val="{00000004-0FBC-42F5-9899-D82AAF9A7963}"/>
                  </c:ext>
                </c:extLst>
              </c15:ser>
            </c15:filteredLineSeries>
          </c:ext>
        </c:extLst>
      </c:lineChart>
      <c:lineChart>
        <c:grouping val="standard"/>
        <c:varyColors val="0"/>
        <c:ser>
          <c:idx val="5"/>
          <c:order val="5"/>
          <c:tx>
            <c:strRef>
              <c:f>Sheet1!$G$1</c:f>
              <c:strCache>
                <c:ptCount val="1"/>
                <c:pt idx="0">
                  <c:v>mean</c:v>
                </c:pt>
              </c:strCache>
            </c:strRef>
          </c:tx>
          <c:spPr>
            <a:ln>
              <a:noFill/>
            </a:ln>
            <a:effectLst/>
          </c:spPr>
          <c:marker>
            <c:symbol val="square"/>
            <c:size val="8"/>
            <c:spPr>
              <a:solidFill>
                <a:srgbClr val="C2410C"/>
              </a:solidFill>
              <a:ln w="22225" cap="flat">
                <a:solidFill>
                  <a:srgbClr val="C2410C"/>
                </a:solidFill>
                <a:prstDash val="solid"/>
                <a:round/>
              </a:ln>
              <a:effectLst/>
            </c:spPr>
          </c:marker>
          <c:errBars>
            <c:errDir val="y"/>
            <c:errBarType val="both"/>
            <c:errValType val="cust"/>
            <c:noEndCap val="0"/>
            <c:plus>
              <c:numRef>
                <c:f>Sheet1!$B$5:$C$5</c:f>
                <c:numCache>
                  <c:formatCode>General</c:formatCode>
                  <c:ptCount val="2"/>
                  <c:pt idx="0">
                    <c:v>5</c:v>
                  </c:pt>
                  <c:pt idx="1">
                    <c:v>10</c:v>
                  </c:pt>
                </c:numCache>
              </c:numRef>
            </c:plus>
            <c:minus>
              <c:numRef>
                <c:f>Sheet1!$B$5:$C$5</c:f>
                <c:numCache>
                  <c:formatCode>General</c:formatCode>
                  <c:ptCount val="2"/>
                  <c:pt idx="0">
                    <c:v>5</c:v>
                  </c:pt>
                  <c:pt idx="1">
                    <c:v>10</c:v>
                  </c:pt>
                </c:numCache>
              </c:numRef>
            </c:minus>
            <c:spPr>
              <a:ln w="25400" cap="flat">
                <a:solidFill>
                  <a:srgbClr val="C2410C"/>
                </a:solidFill>
                <a:round/>
              </a:ln>
              <a:effectLst/>
            </c:spPr>
          </c:errBars>
          <c:cat>
            <c:strRef>
              <c:f>Sheet1!$A$2:$A$3</c:f>
              <c:strCache>
                <c:ptCount val="2"/>
                <c:pt idx="0">
                  <c:v>arm supported</c:v>
                </c:pt>
                <c:pt idx="1">
                  <c:v>arm free</c:v>
                </c:pt>
              </c:strCache>
            </c:strRef>
          </c:cat>
          <c:val>
            <c:numRef>
              <c:f>Sheet1!$G$2:$G$3</c:f>
              <c:numCache>
                <c:formatCode>General</c:formatCode>
                <c:ptCount val="2"/>
                <c:pt idx="0">
                  <c:v>194.6</c:v>
                </c:pt>
                <c:pt idx="1">
                  <c:v>222.4</c:v>
                </c:pt>
              </c:numCache>
            </c:numRef>
          </c:val>
          <c:smooth val="0"/>
          <c:extLst>
            <c:ext xmlns:c16="http://schemas.microsoft.com/office/drawing/2014/chart" uri="{C3380CC4-5D6E-409C-BE32-E72D297353CC}">
              <c16:uniqueId val="{00000005-0FBC-42F5-9899-D82AAF9A796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C6D0D8"/>
            </a:solidFill>
            <a:prstDash val="solid"/>
            <a:round/>
          </a:ln>
        </c:spPr>
        <c:txPr>
          <a:bodyPr/>
          <a:lstStyle/>
          <a:p>
            <a:pPr>
              <a:defRPr sz="1400" b="0" i="0" u="none" strike="noStrike">
                <a:solidFill>
                  <a:srgbClr val="3C5165"/>
                </a:solidFill>
                <a:latin typeface="Calibri"/>
              </a:defRPr>
            </a:pPr>
            <a:endParaRPr lang="en-US"/>
          </a:p>
        </c:txPr>
        <c:crossAx val="2094734552"/>
        <c:crosses val="autoZero"/>
        <c:auto val="1"/>
        <c:lblAlgn val="ctr"/>
        <c:lblOffset val="100"/>
        <c:noMultiLvlLbl val="1"/>
      </c:catAx>
      <c:valAx>
        <c:axId val="2094734552"/>
        <c:scaling>
          <c:orientation val="minMax"/>
          <c:max val="240"/>
          <c:min val="180"/>
        </c:scaling>
        <c:delete val="0"/>
        <c:axPos val="l"/>
        <c:majorGridlines>
          <c:spPr>
            <a:ln w="12700" cap="flat">
              <a:solidFill>
                <a:srgbClr val="E3E9EE"/>
              </a:solidFill>
              <a:prstDash val="solid"/>
              <a:round/>
            </a:ln>
          </c:spPr>
        </c:majorGridlines>
        <c:title>
          <c:tx>
            <c:rich>
              <a:bodyPr/>
              <a:lstStyle/>
              <a:p>
                <a:pPr>
                  <a:defRPr sz="1400" b="0" i="0" u="none" strike="noStrike">
                    <a:solidFill>
                      <a:srgbClr val="162A3A"/>
                    </a:solidFill>
                    <a:latin typeface="Arial"/>
                  </a:defRPr>
                </a:pPr>
                <a:r>
                  <a:rPr lang="en-US" sz="1400" b="0" i="0" u="none" strike="noStrike">
                    <a:solidFill>
                      <a:srgbClr val="162A3A"/>
                    </a:solidFill>
                    <a:latin typeface="Arial"/>
                  </a:rPr>
                  <a:t>Reaction time (ms)</a:t>
                </a:r>
              </a:p>
            </c:rich>
          </c:tx>
          <c:overlay val="0"/>
        </c:title>
        <c:numFmt formatCode="0" sourceLinked="0"/>
        <c:majorTickMark val="out"/>
        <c:minorTickMark val="none"/>
        <c:tickLblPos val="nextTo"/>
        <c:spPr>
          <a:ln w="12700" cap="flat">
            <a:solidFill>
              <a:srgbClr val="C6D0D8"/>
            </a:solidFill>
            <a:prstDash val="solid"/>
            <a:round/>
          </a:ln>
        </c:spPr>
        <c:txPr>
          <a:bodyPr/>
          <a:lstStyle/>
          <a:p>
            <a:pPr>
              <a:defRPr sz="1050" b="0" i="0" u="none" strike="noStrike">
                <a:solidFill>
                  <a:srgbClr val="3C5165"/>
                </a:solidFill>
                <a:latin typeface="Calibri"/>
              </a:defRPr>
            </a:pPr>
            <a:endParaRPr lang="en-US"/>
          </a:p>
        </c:txPr>
        <c:crossAx val="2094734554"/>
        <c:crosses val="autoZero"/>
        <c:crossBetween val="between"/>
        <c:majorUnit val="20"/>
      </c:valAx>
      <c:spPr>
        <a:noFill/>
        <a:ln>
          <a:noFill/>
        </a:ln>
        <a:effectLst/>
      </c:spPr>
    </c:plotArea>
    <c:plotVisOnly val="1"/>
    <c:dispBlanksAs val="span"/>
    <c:showDLblsOverMax val="1"/>
  </c:chart>
  <c:spPr>
    <a:noFill/>
    <a:ln w="15875">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dLbls>
          <c:showLegendKey val="0"/>
          <c:showVal val="0"/>
          <c:showCatName val="0"/>
          <c:showSerName val="0"/>
          <c:showPercent val="0"/>
          <c:showBubbleSize val="0"/>
        </c:dLbls>
        <c:marker val="1"/>
        <c:smooth val="0"/>
        <c:axId val="2094734554"/>
        <c:axId val="2094734552"/>
        <c:extLst>
          <c:ext xmlns:c15="http://schemas.microsoft.com/office/drawing/2012/chart" uri="{02D57815-91ED-43cb-92C2-25804820EDAC}">
            <c15:filteredLineSeries>
              <c15:ser>
                <c:idx val="0"/>
                <c:order val="0"/>
                <c:tx>
                  <c:strRef>
                    <c:extLst>
                      <c:ext uri="{02D57815-91ED-43cb-92C2-25804820EDAC}">
                        <c15:formulaRef>
                          <c15:sqref>Sheet1!$B$1</c15:sqref>
                        </c15:formulaRef>
                      </c:ext>
                    </c:extLst>
                    <c:strCache>
                      <c:ptCount val="1"/>
                      <c:pt idx="0">
                        <c:v>t1</c:v>
                      </c:pt>
                    </c:strCache>
                  </c:strRef>
                </c:tx>
                <c:spPr>
                  <a:ln>
                    <a:noFill/>
                  </a:ln>
                  <a:effectLst/>
                </c:spPr>
                <c:marker>
                  <c:symbol val="circle"/>
                  <c:size val="5"/>
                  <c:spPr>
                    <a:solidFill>
                      <a:srgbClr val="B9C6D1"/>
                    </a:solidFill>
                    <a:ln w="9525" cap="flat">
                      <a:solidFill>
                        <a:srgbClr val="B9C6D1"/>
                      </a:solidFill>
                      <a:prstDash val="solid"/>
                      <a:round/>
                    </a:ln>
                    <a:effectLst/>
                  </c:spPr>
                </c:marker>
                <c:cat>
                  <c:strRef>
                    <c:extLst>
                      <c:ext uri="{02D57815-91ED-43cb-92C2-25804820EDAC}">
                        <c15:formulaRef>
                          <c15:sqref>Sheet1!$A$2:$A$6</c15:sqref>
                        </c15:formulaRef>
                      </c:ext>
                    </c:extLst>
                    <c:strCache>
                      <c:ptCount val="5"/>
                      <c:pt idx="0">
                        <c:v>20</c:v>
                      </c:pt>
                      <c:pt idx="1">
                        <c:v>40</c:v>
                      </c:pt>
                      <c:pt idx="2">
                        <c:v>60</c:v>
                      </c:pt>
                      <c:pt idx="3">
                        <c:v>80</c:v>
                      </c:pt>
                      <c:pt idx="4">
                        <c:v>100</c:v>
                      </c:pt>
                    </c:strCache>
                  </c:strRef>
                </c:cat>
                <c:val>
                  <c:numRef>
                    <c:extLst>
                      <c:ext uri="{02D57815-91ED-43cb-92C2-25804820EDAC}">
                        <c15:formulaRef>
                          <c15:sqref>Sheet1!$B$2:$B$6</c15:sqref>
                        </c15:formulaRef>
                      </c:ext>
                    </c:extLst>
                    <c:numCache>
                      <c:formatCode>General</c:formatCode>
                      <c:ptCount val="5"/>
                      <c:pt idx="0">
                        <c:v>75.5</c:v>
                      </c:pt>
                      <c:pt idx="1">
                        <c:v>76.2</c:v>
                      </c:pt>
                      <c:pt idx="2">
                        <c:v>76</c:v>
                      </c:pt>
                      <c:pt idx="3">
                        <c:v>76.400000000000006</c:v>
                      </c:pt>
                      <c:pt idx="4">
                        <c:v>76.400000000000006</c:v>
                      </c:pt>
                    </c:numCache>
                  </c:numRef>
                </c:val>
                <c:smooth val="0"/>
                <c:extLst>
                  <c:ext xmlns:c16="http://schemas.microsoft.com/office/drawing/2014/chart" uri="{C3380CC4-5D6E-409C-BE32-E72D297353CC}">
                    <c16:uniqueId val="{00000000-6901-4491-99C6-9893D4C3ADA1}"/>
                  </c:ext>
                </c:extLst>
              </c15:ser>
            </c15:filteredLineSeries>
            <c15:filteredLineSeries>
              <c15:ser>
                <c:idx val="1"/>
                <c:order val="1"/>
                <c:tx>
                  <c:strRef>
                    <c:extLst xmlns:c15="http://schemas.microsoft.com/office/drawing/2012/chart">
                      <c:ext xmlns:c15="http://schemas.microsoft.com/office/drawing/2012/chart" uri="{02D57815-91ED-43cb-92C2-25804820EDAC}">
                        <c15:formulaRef>
                          <c15:sqref>Sheet1!$C$1</c15:sqref>
                        </c15:formulaRef>
                      </c:ext>
                    </c:extLst>
                    <c:strCache>
                      <c:ptCount val="1"/>
                      <c:pt idx="0">
                        <c:v>t2</c:v>
                      </c:pt>
                    </c:strCache>
                  </c:strRef>
                </c:tx>
                <c:spPr>
                  <a:ln>
                    <a:noFill/>
                  </a:ln>
                  <a:effectLst/>
                </c:spPr>
                <c:marker>
                  <c:symbol val="circle"/>
                  <c:size val="5"/>
                  <c:spPr>
                    <a:solidFill>
                      <a:srgbClr val="B9C6D1"/>
                    </a:solidFill>
                    <a:ln w="9525" cap="flat">
                      <a:solidFill>
                        <a:srgbClr val="B9C6D1"/>
                      </a:solidFill>
                      <a:prstDash val="solid"/>
                      <a:round/>
                    </a:ln>
                    <a:effectLst/>
                  </c:spPr>
                </c:marker>
                <c:cat>
                  <c:strRef>
                    <c:extLst xmlns:c15="http://schemas.microsoft.com/office/drawing/2012/chart">
                      <c:ext xmlns:c15="http://schemas.microsoft.com/office/drawing/2012/chart" uri="{02D57815-91ED-43cb-92C2-25804820EDAC}">
                        <c15:formulaRef>
                          <c15:sqref>Sheet1!$A$2:$A$6</c15:sqref>
                        </c15:formulaRef>
                      </c:ext>
                    </c:extLst>
                    <c:strCache>
                      <c:ptCount val="5"/>
                      <c:pt idx="0">
                        <c:v>20</c:v>
                      </c:pt>
                      <c:pt idx="1">
                        <c:v>40</c:v>
                      </c:pt>
                      <c:pt idx="2">
                        <c:v>60</c:v>
                      </c:pt>
                      <c:pt idx="3">
                        <c:v>80</c:v>
                      </c:pt>
                      <c:pt idx="4">
                        <c:v>100</c:v>
                      </c:pt>
                    </c:strCache>
                  </c:strRef>
                </c:cat>
                <c:val>
                  <c:numRef>
                    <c:extLst xmlns:c15="http://schemas.microsoft.com/office/drawing/2012/chart">
                      <c:ext xmlns:c15="http://schemas.microsoft.com/office/drawing/2012/chart" uri="{02D57815-91ED-43cb-92C2-25804820EDAC}">
                        <c15:formulaRef>
                          <c15:sqref>Sheet1!$C$2:$C$6</c15:sqref>
                        </c15:formulaRef>
                      </c:ext>
                    </c:extLst>
                    <c:numCache>
                      <c:formatCode>General</c:formatCode>
                      <c:ptCount val="5"/>
                      <c:pt idx="0">
                        <c:v>76</c:v>
                      </c:pt>
                      <c:pt idx="1">
                        <c:v>76.099999999999994</c:v>
                      </c:pt>
                      <c:pt idx="2">
                        <c:v>77</c:v>
                      </c:pt>
                      <c:pt idx="3">
                        <c:v>76.7</c:v>
                      </c:pt>
                      <c:pt idx="4">
                        <c:v>77</c:v>
                      </c:pt>
                    </c:numCache>
                  </c:numRef>
                </c:val>
                <c:smooth val="0"/>
                <c:extLst xmlns:c15="http://schemas.microsoft.com/office/drawing/2012/chart">
                  <c:ext xmlns:c16="http://schemas.microsoft.com/office/drawing/2014/chart" uri="{C3380CC4-5D6E-409C-BE32-E72D297353CC}">
                    <c16:uniqueId val="{00000001-6901-4491-99C6-9893D4C3ADA1}"/>
                  </c:ext>
                </c:extLst>
              </c15:ser>
            </c15:filteredLineSeries>
            <c15:filteredLine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t3</c:v>
                      </c:pt>
                    </c:strCache>
                  </c:strRef>
                </c:tx>
                <c:spPr>
                  <a:ln>
                    <a:noFill/>
                  </a:ln>
                  <a:effectLst/>
                </c:spPr>
                <c:marker>
                  <c:symbol val="circle"/>
                  <c:size val="5"/>
                  <c:spPr>
                    <a:solidFill>
                      <a:srgbClr val="B9C6D1"/>
                    </a:solidFill>
                    <a:ln w="9525" cap="flat">
                      <a:solidFill>
                        <a:srgbClr val="B9C6D1"/>
                      </a:solidFill>
                      <a:prstDash val="solid"/>
                      <a:round/>
                    </a:ln>
                    <a:effectLst/>
                  </c:spPr>
                </c:marker>
                <c:cat>
                  <c:strRef>
                    <c:extLst xmlns:c15="http://schemas.microsoft.com/office/drawing/2012/chart">
                      <c:ext xmlns:c15="http://schemas.microsoft.com/office/drawing/2012/chart" uri="{02D57815-91ED-43cb-92C2-25804820EDAC}">
                        <c15:formulaRef>
                          <c15:sqref>Sheet1!$A$2:$A$6</c15:sqref>
                        </c15:formulaRef>
                      </c:ext>
                    </c:extLst>
                    <c:strCache>
                      <c:ptCount val="5"/>
                      <c:pt idx="0">
                        <c:v>20</c:v>
                      </c:pt>
                      <c:pt idx="1">
                        <c:v>40</c:v>
                      </c:pt>
                      <c:pt idx="2">
                        <c:v>60</c:v>
                      </c:pt>
                      <c:pt idx="3">
                        <c:v>80</c:v>
                      </c:pt>
                      <c:pt idx="4">
                        <c:v>100</c:v>
                      </c:pt>
                    </c:strCache>
                  </c:strRef>
                </c:cat>
                <c:val>
                  <c:numRef>
                    <c:extLst xmlns:c15="http://schemas.microsoft.com/office/drawing/2012/chart">
                      <c:ext xmlns:c15="http://schemas.microsoft.com/office/drawing/2012/chart" uri="{02D57815-91ED-43cb-92C2-25804820EDAC}">
                        <c15:formulaRef>
                          <c15:sqref>Sheet1!$D$2:$D$6</c15:sqref>
                        </c15:formulaRef>
                      </c:ext>
                    </c:extLst>
                    <c:numCache>
                      <c:formatCode>General</c:formatCode>
                      <c:ptCount val="5"/>
                      <c:pt idx="0">
                        <c:v>76.099999999999994</c:v>
                      </c:pt>
                      <c:pt idx="1">
                        <c:v>75.8</c:v>
                      </c:pt>
                      <c:pt idx="2">
                        <c:v>76.2</c:v>
                      </c:pt>
                      <c:pt idx="3">
                        <c:v>76.3</c:v>
                      </c:pt>
                      <c:pt idx="4">
                        <c:v>76.599999999999994</c:v>
                      </c:pt>
                    </c:numCache>
                  </c:numRef>
                </c:val>
                <c:smooth val="0"/>
                <c:extLst xmlns:c15="http://schemas.microsoft.com/office/drawing/2012/chart">
                  <c:ext xmlns:c16="http://schemas.microsoft.com/office/drawing/2014/chart" uri="{C3380CC4-5D6E-409C-BE32-E72D297353CC}">
                    <c16:uniqueId val="{00000002-6901-4491-99C6-9893D4C3ADA1}"/>
                  </c:ext>
                </c:extLst>
              </c15:ser>
            </c15:filteredLineSeries>
            <c15:filteredLineSeries>
              <c15:ser>
                <c:idx val="3"/>
                <c:order val="3"/>
                <c:tx>
                  <c:strRef>
                    <c:extLst xmlns:c15="http://schemas.microsoft.com/office/drawing/2012/chart">
                      <c:ext xmlns:c15="http://schemas.microsoft.com/office/drawing/2012/chart" uri="{02D57815-91ED-43cb-92C2-25804820EDAC}">
                        <c15:formulaRef>
                          <c15:sqref>Sheet1!$E$1</c15:sqref>
                        </c15:formulaRef>
                      </c:ext>
                    </c:extLst>
                    <c:strCache>
                      <c:ptCount val="1"/>
                      <c:pt idx="0">
                        <c:v>t4</c:v>
                      </c:pt>
                    </c:strCache>
                  </c:strRef>
                </c:tx>
                <c:spPr>
                  <a:ln>
                    <a:noFill/>
                  </a:ln>
                  <a:effectLst/>
                </c:spPr>
                <c:marker>
                  <c:symbol val="circle"/>
                  <c:size val="5"/>
                  <c:spPr>
                    <a:solidFill>
                      <a:srgbClr val="B9C6D1"/>
                    </a:solidFill>
                    <a:ln w="9525" cap="flat">
                      <a:solidFill>
                        <a:srgbClr val="B9C6D1"/>
                      </a:solidFill>
                      <a:prstDash val="solid"/>
                      <a:round/>
                    </a:ln>
                    <a:effectLst/>
                  </c:spPr>
                </c:marker>
                <c:cat>
                  <c:strRef>
                    <c:extLst xmlns:c15="http://schemas.microsoft.com/office/drawing/2012/chart">
                      <c:ext xmlns:c15="http://schemas.microsoft.com/office/drawing/2012/chart" uri="{02D57815-91ED-43cb-92C2-25804820EDAC}">
                        <c15:formulaRef>
                          <c15:sqref>Sheet1!$A$2:$A$6</c15:sqref>
                        </c15:formulaRef>
                      </c:ext>
                    </c:extLst>
                    <c:strCache>
                      <c:ptCount val="5"/>
                      <c:pt idx="0">
                        <c:v>20</c:v>
                      </c:pt>
                      <c:pt idx="1">
                        <c:v>40</c:v>
                      </c:pt>
                      <c:pt idx="2">
                        <c:v>60</c:v>
                      </c:pt>
                      <c:pt idx="3">
                        <c:v>80</c:v>
                      </c:pt>
                      <c:pt idx="4">
                        <c:v>100</c:v>
                      </c:pt>
                    </c:strCache>
                  </c:strRef>
                </c:cat>
                <c:val>
                  <c:numRef>
                    <c:extLst xmlns:c15="http://schemas.microsoft.com/office/drawing/2012/chart">
                      <c:ext xmlns:c15="http://schemas.microsoft.com/office/drawing/2012/chart" uri="{02D57815-91ED-43cb-92C2-25804820EDAC}">
                        <c15:formulaRef>
                          <c15:sqref>Sheet1!$E$2:$E$6</c15:sqref>
                        </c15:formulaRef>
                      </c:ext>
                    </c:extLst>
                    <c:numCache>
                      <c:formatCode>General</c:formatCode>
                      <c:ptCount val="5"/>
                      <c:pt idx="0">
                        <c:v>76</c:v>
                      </c:pt>
                      <c:pt idx="1">
                        <c:v>76.2</c:v>
                      </c:pt>
                      <c:pt idx="2">
                        <c:v>76.099999999999994</c:v>
                      </c:pt>
                      <c:pt idx="3">
                        <c:v>76.5</c:v>
                      </c:pt>
                      <c:pt idx="4">
                        <c:v>76</c:v>
                      </c:pt>
                    </c:numCache>
                  </c:numRef>
                </c:val>
                <c:smooth val="0"/>
                <c:extLst xmlns:c15="http://schemas.microsoft.com/office/drawing/2012/chart">
                  <c:ext xmlns:c16="http://schemas.microsoft.com/office/drawing/2014/chart" uri="{C3380CC4-5D6E-409C-BE32-E72D297353CC}">
                    <c16:uniqueId val="{00000003-6901-4491-99C6-9893D4C3ADA1}"/>
                  </c:ext>
                </c:extLst>
              </c15:ser>
            </c15:filteredLineSeries>
            <c15:filteredLineSeries>
              <c15:ser>
                <c:idx val="4"/>
                <c:order val="4"/>
                <c:tx>
                  <c:strRef>
                    <c:extLst xmlns:c15="http://schemas.microsoft.com/office/drawing/2012/chart">
                      <c:ext xmlns:c15="http://schemas.microsoft.com/office/drawing/2012/chart" uri="{02D57815-91ED-43cb-92C2-25804820EDAC}">
                        <c15:formulaRef>
                          <c15:sqref>Sheet1!$F$1</c15:sqref>
                        </c15:formulaRef>
                      </c:ext>
                    </c:extLst>
                    <c:strCache>
                      <c:ptCount val="1"/>
                      <c:pt idx="0">
                        <c:v>t5</c:v>
                      </c:pt>
                    </c:strCache>
                  </c:strRef>
                </c:tx>
                <c:spPr>
                  <a:ln>
                    <a:noFill/>
                  </a:ln>
                  <a:effectLst/>
                </c:spPr>
                <c:marker>
                  <c:symbol val="circle"/>
                  <c:size val="5"/>
                  <c:spPr>
                    <a:solidFill>
                      <a:srgbClr val="B9C6D1"/>
                    </a:solidFill>
                    <a:ln w="9525" cap="flat">
                      <a:solidFill>
                        <a:srgbClr val="B9C6D1"/>
                      </a:solidFill>
                      <a:prstDash val="solid"/>
                      <a:round/>
                    </a:ln>
                    <a:effectLst/>
                  </c:spPr>
                </c:marker>
                <c:cat>
                  <c:strRef>
                    <c:extLst xmlns:c15="http://schemas.microsoft.com/office/drawing/2012/chart">
                      <c:ext xmlns:c15="http://schemas.microsoft.com/office/drawing/2012/chart" uri="{02D57815-91ED-43cb-92C2-25804820EDAC}">
                        <c15:formulaRef>
                          <c15:sqref>Sheet1!$A$2:$A$6</c15:sqref>
                        </c15:formulaRef>
                      </c:ext>
                    </c:extLst>
                    <c:strCache>
                      <c:ptCount val="5"/>
                      <c:pt idx="0">
                        <c:v>20</c:v>
                      </c:pt>
                      <c:pt idx="1">
                        <c:v>40</c:v>
                      </c:pt>
                      <c:pt idx="2">
                        <c:v>60</c:v>
                      </c:pt>
                      <c:pt idx="3">
                        <c:v>80</c:v>
                      </c:pt>
                      <c:pt idx="4">
                        <c:v>100</c:v>
                      </c:pt>
                    </c:strCache>
                  </c:strRef>
                </c:cat>
                <c:val>
                  <c:numRef>
                    <c:extLst xmlns:c15="http://schemas.microsoft.com/office/drawing/2012/chart">
                      <c:ext xmlns:c15="http://schemas.microsoft.com/office/drawing/2012/chart" uri="{02D57815-91ED-43cb-92C2-25804820EDAC}">
                        <c15:formulaRef>
                          <c15:sqref>Sheet1!$F$2:$F$6</c15:sqref>
                        </c15:formulaRef>
                      </c:ext>
                    </c:extLst>
                    <c:numCache>
                      <c:formatCode>General</c:formatCode>
                      <c:ptCount val="5"/>
                      <c:pt idx="0">
                        <c:v>75.8</c:v>
                      </c:pt>
                      <c:pt idx="1">
                        <c:v>76.5</c:v>
                      </c:pt>
                      <c:pt idx="2">
                        <c:v>76.3</c:v>
                      </c:pt>
                      <c:pt idx="3">
                        <c:v>76.5</c:v>
                      </c:pt>
                      <c:pt idx="4">
                        <c:v>76.8</c:v>
                      </c:pt>
                    </c:numCache>
                  </c:numRef>
                </c:val>
                <c:smooth val="0"/>
                <c:extLst xmlns:c15="http://schemas.microsoft.com/office/drawing/2012/chart">
                  <c:ext xmlns:c16="http://schemas.microsoft.com/office/drawing/2014/chart" uri="{C3380CC4-5D6E-409C-BE32-E72D297353CC}">
                    <c16:uniqueId val="{00000004-6901-4491-99C6-9893D4C3ADA1}"/>
                  </c:ext>
                </c:extLst>
              </c15:ser>
            </c15:filteredLineSeries>
          </c:ext>
        </c:extLst>
      </c:lineChart>
      <c:lineChart>
        <c:grouping val="standard"/>
        <c:varyColors val="0"/>
        <c:ser>
          <c:idx val="5"/>
          <c:order val="5"/>
          <c:tx>
            <c:strRef>
              <c:f>Sheet1!$G$1</c:f>
              <c:strCache>
                <c:ptCount val="1"/>
                <c:pt idx="0">
                  <c:v>mean</c:v>
                </c:pt>
              </c:strCache>
            </c:strRef>
          </c:tx>
          <c:spPr>
            <a:ln>
              <a:noFill/>
            </a:ln>
            <a:effectLst/>
          </c:spPr>
          <c:marker>
            <c:symbol val="circle"/>
            <c:size val="8"/>
            <c:spPr>
              <a:solidFill>
                <a:srgbClr val="C2410C"/>
              </a:solidFill>
              <a:ln w="9525" cap="flat">
                <a:solidFill>
                  <a:srgbClr val="C2410C"/>
                </a:solidFill>
                <a:prstDash val="solid"/>
                <a:round/>
              </a:ln>
              <a:effectLst/>
            </c:spPr>
          </c:marker>
          <c:errBars>
            <c:errDir val="y"/>
            <c:errBarType val="both"/>
            <c:errValType val="cust"/>
            <c:noEndCap val="0"/>
            <c:plus>
              <c:numRef>
                <c:f>Sheet1!$H$2:$H$6</c:f>
                <c:numCache>
                  <c:formatCode>General</c:formatCode>
                  <c:ptCount val="5"/>
                  <c:pt idx="0">
                    <c:v>0.10677078252031263</c:v>
                  </c:pt>
                  <c:pt idx="1">
                    <c:v>0.11224972160321894</c:v>
                  </c:pt>
                  <c:pt idx="2">
                    <c:v>0.17720045146669378</c:v>
                  </c:pt>
                  <c:pt idx="3">
                    <c:v>6.633249580710851E-2</c:v>
                  </c:pt>
                  <c:pt idx="4">
                    <c:v>0.172046505340852</c:v>
                  </c:pt>
                </c:numCache>
              </c:numRef>
            </c:plus>
            <c:minus>
              <c:numRef>
                <c:f>Sheet1!$H$2:$H$6</c:f>
                <c:numCache>
                  <c:formatCode>General</c:formatCode>
                  <c:ptCount val="5"/>
                  <c:pt idx="0">
                    <c:v>0.10677078252031263</c:v>
                  </c:pt>
                  <c:pt idx="1">
                    <c:v>0.11224972160321894</c:v>
                  </c:pt>
                  <c:pt idx="2">
                    <c:v>0.17720045146669378</c:v>
                  </c:pt>
                  <c:pt idx="3">
                    <c:v>6.633249580710851E-2</c:v>
                  </c:pt>
                  <c:pt idx="4">
                    <c:v>0.172046505340852</c:v>
                  </c:pt>
                </c:numCache>
              </c:numRef>
            </c:minus>
            <c:spPr>
              <a:ln w="12700" cap="flat">
                <a:solidFill>
                  <a:srgbClr val="C2410C"/>
                </a:solidFill>
                <a:round/>
              </a:ln>
              <a:effectLst/>
            </c:spPr>
          </c:errBars>
          <c:cat>
            <c:strRef>
              <c:f>Sheet1!$A$2:$A$6</c:f>
              <c:strCache>
                <c:ptCount val="5"/>
                <c:pt idx="0">
                  <c:v>20</c:v>
                </c:pt>
                <c:pt idx="1">
                  <c:v>40</c:v>
                </c:pt>
                <c:pt idx="2">
                  <c:v>60</c:v>
                </c:pt>
                <c:pt idx="3">
                  <c:v>80</c:v>
                </c:pt>
                <c:pt idx="4">
                  <c:v>100</c:v>
                </c:pt>
              </c:strCache>
            </c:strRef>
          </c:cat>
          <c:val>
            <c:numRef>
              <c:f>Sheet1!$G$2:$G$6</c:f>
              <c:numCache>
                <c:formatCode>General</c:formatCode>
                <c:ptCount val="5"/>
                <c:pt idx="0">
                  <c:v>75.88000000000001</c:v>
                </c:pt>
                <c:pt idx="1">
                  <c:v>76.16</c:v>
                </c:pt>
                <c:pt idx="2">
                  <c:v>76.319999999999993</c:v>
                </c:pt>
                <c:pt idx="3">
                  <c:v>76.48</c:v>
                </c:pt>
                <c:pt idx="4">
                  <c:v>76.56</c:v>
                </c:pt>
              </c:numCache>
            </c:numRef>
          </c:val>
          <c:smooth val="0"/>
          <c:extLst>
            <c:ext xmlns:c16="http://schemas.microsoft.com/office/drawing/2014/chart" uri="{C3380CC4-5D6E-409C-BE32-E72D297353CC}">
              <c16:uniqueId val="{00000005-6901-4491-99C6-9893D4C3ADA1}"/>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400" b="0" i="0" u="none" strike="noStrike">
                    <a:solidFill>
                      <a:srgbClr val="162A3A"/>
                    </a:solidFill>
                    <a:latin typeface="Arial"/>
                  </a:defRPr>
                </a:pPr>
                <a:r>
                  <a:rPr lang="en-US" sz="1400" b="0" i="0" u="none" strike="noStrike">
                    <a:solidFill>
                      <a:srgbClr val="162A3A"/>
                    </a:solidFill>
                    <a:latin typeface="Arial"/>
                  </a:rPr>
                  <a:t>Position along table (cm)</a:t>
                </a:r>
              </a:p>
            </c:rich>
          </c:tx>
          <c:overlay val="0"/>
        </c:title>
        <c:numFmt formatCode="General" sourceLinked="1"/>
        <c:majorTickMark val="out"/>
        <c:minorTickMark val="none"/>
        <c:tickLblPos val="low"/>
        <c:spPr>
          <a:ln w="12700" cap="flat">
            <a:solidFill>
              <a:srgbClr val="C6D0D8"/>
            </a:solidFill>
            <a:prstDash val="solid"/>
            <a:round/>
          </a:ln>
        </c:spPr>
        <c:txPr>
          <a:bodyPr/>
          <a:lstStyle/>
          <a:p>
            <a:pPr>
              <a:defRPr sz="1050" b="0" i="0" u="none" strike="noStrike">
                <a:solidFill>
                  <a:srgbClr val="3C5165"/>
                </a:solidFill>
                <a:latin typeface="Calibri"/>
              </a:defRPr>
            </a:pPr>
            <a:endParaRPr lang="en-US"/>
          </a:p>
        </c:txPr>
        <c:crossAx val="2094734552"/>
        <c:crosses val="autoZero"/>
        <c:auto val="1"/>
        <c:lblAlgn val="ctr"/>
        <c:lblOffset val="100"/>
        <c:noMultiLvlLbl val="1"/>
      </c:catAx>
      <c:valAx>
        <c:axId val="2094734552"/>
        <c:scaling>
          <c:orientation val="minMax"/>
          <c:max val="76.8"/>
          <c:min val="75.599999999999994"/>
        </c:scaling>
        <c:delete val="0"/>
        <c:axPos val="l"/>
        <c:majorGridlines>
          <c:spPr>
            <a:ln w="12700" cap="flat">
              <a:solidFill>
                <a:srgbClr val="E3E9EE"/>
              </a:solidFill>
              <a:prstDash val="solid"/>
              <a:round/>
            </a:ln>
          </c:spPr>
        </c:majorGridlines>
        <c:title>
          <c:tx>
            <c:rich>
              <a:bodyPr/>
              <a:lstStyle/>
              <a:p>
                <a:pPr>
                  <a:defRPr sz="1400" b="0" i="0" u="none" strike="noStrike">
                    <a:solidFill>
                      <a:srgbClr val="162A3A"/>
                    </a:solidFill>
                    <a:latin typeface="Arial"/>
                  </a:defRPr>
                </a:pPr>
                <a:r>
                  <a:rPr lang="en-US" sz="1400" b="0" i="0" u="none" strike="noStrike">
                    <a:solidFill>
                      <a:srgbClr val="162A3A"/>
                    </a:solidFill>
                    <a:latin typeface="Arial"/>
                  </a:rPr>
                  <a:t>Measured width (cm)</a:t>
                </a:r>
              </a:p>
            </c:rich>
          </c:tx>
          <c:overlay val="0"/>
        </c:title>
        <c:numFmt formatCode="0.0" sourceLinked="0"/>
        <c:majorTickMark val="out"/>
        <c:minorTickMark val="none"/>
        <c:tickLblPos val="nextTo"/>
        <c:spPr>
          <a:ln w="12700" cap="flat">
            <a:solidFill>
              <a:srgbClr val="C6D0D8"/>
            </a:solidFill>
            <a:prstDash val="solid"/>
            <a:round/>
          </a:ln>
        </c:spPr>
        <c:txPr>
          <a:bodyPr/>
          <a:lstStyle/>
          <a:p>
            <a:pPr>
              <a:defRPr sz="1050" b="0" i="0" u="none" strike="noStrike">
                <a:solidFill>
                  <a:srgbClr val="3C5165"/>
                </a:solidFill>
                <a:latin typeface="Calibri"/>
              </a:defRPr>
            </a:pPr>
            <a:endParaRPr lang="en-US"/>
          </a:p>
        </c:txPr>
        <c:crossAx val="2094734554"/>
        <c:crosses val="autoZero"/>
        <c:crossBetween val="between"/>
        <c:majorUnit val="0.3"/>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0634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THIS FILE
Fill in slide 1, replace the gray prompts with your own content
You present ONE slide, maximum two minutes.
Slides 2 and 3 are worked examples; slide 4 is a best-practice reference.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4F18E-C719-F295-53C7-464ED59286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E19135-47CF-C2CA-13D9-A3C223D899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A9ABD7-0573-C29C-C3D9-7FC8A74675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EFE6E8-94CD-E05E-6D77-69E31ACB83A7}"/>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638612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hyperlink" Target="https://login.microsoftonline.com/"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19456"/>
            <a:ext cx="6766560" cy="237744"/>
          </a:xfrm>
          <a:prstGeom prst="rect">
            <a:avLst/>
          </a:prstGeom>
          <a:noFill/>
          <a:ln/>
        </p:spPr>
        <p:txBody>
          <a:bodyPr wrap="square" lIns="0" tIns="0" rIns="0" bIns="0" rtlCol="0" anchor="ctr"/>
          <a:lstStyle/>
          <a:p>
            <a:pPr marL="0" indent="0">
              <a:buNone/>
            </a:pPr>
            <a:r>
              <a:rPr lang="en-US" sz="1100" i="1" dirty="0">
                <a:solidFill>
                  <a:srgbClr val="5A6C79"/>
                </a:solidFill>
                <a:latin typeface="Calibri" pitchFamily="34" charset="0"/>
                <a:ea typeface="Calibri" pitchFamily="34" charset="-122"/>
                <a:cs typeface="Calibri" pitchFamily="34" charset="-120"/>
              </a:rPr>
              <a:t>Your name  ·  Module # </a:t>
            </a:r>
            <a:endParaRPr lang="en-US" sz="1100" dirty="0"/>
          </a:p>
        </p:txBody>
      </p:sp>
      <p:sp>
        <p:nvSpPr>
          <p:cNvPr id="3" name="Text 1"/>
          <p:cNvSpPr txBox="1"/>
          <p:nvPr/>
        </p:nvSpPr>
        <p:spPr>
          <a:xfrm>
            <a:off x="5486400" y="219456"/>
            <a:ext cx="6248095" cy="237744"/>
          </a:xfrm>
          <a:prstGeom prst="rect">
            <a:avLst/>
          </a:prstGeom>
          <a:noFill/>
          <a:ln/>
        </p:spPr>
        <p:txBody>
          <a:bodyPr wrap="square" lIns="0" tIns="0" rIns="0" bIns="0" rtlCol="0" anchor="ctr"/>
          <a:lstStyle/>
          <a:p>
            <a:pPr marL="0" indent="0" algn="r">
              <a:buNone/>
            </a:pPr>
            <a:r>
              <a:rPr lang="en-US" sz="1100" dirty="0">
                <a:solidFill>
                  <a:srgbClr val="5A6C79"/>
                </a:solidFill>
                <a:latin typeface="Calibri" pitchFamily="34" charset="0"/>
                <a:ea typeface="Calibri" pitchFamily="34" charset="-122"/>
                <a:cs typeface="Calibri" pitchFamily="34" charset="-120"/>
              </a:rPr>
              <a:t>one slide  ·  two minutes  ·  no appendix</a:t>
            </a:r>
            <a:endParaRPr lang="en-US" sz="1100" dirty="0"/>
          </a:p>
        </p:txBody>
      </p:sp>
      <p:sp>
        <p:nvSpPr>
          <p:cNvPr id="4" name="Text 2"/>
          <p:cNvSpPr txBox="1"/>
          <p:nvPr/>
        </p:nvSpPr>
        <p:spPr>
          <a:xfrm>
            <a:off x="457200" y="475488"/>
            <a:ext cx="11277295" cy="768096"/>
          </a:xfrm>
          <a:prstGeom prst="rect">
            <a:avLst/>
          </a:prstGeom>
          <a:noFill/>
          <a:ln/>
        </p:spPr>
        <p:txBody>
          <a:bodyPr wrap="square" lIns="0" tIns="0" rIns="0" bIns="0" rtlCol="0" anchor="t"/>
          <a:lstStyle/>
          <a:p>
            <a:pPr marL="0" indent="0">
              <a:buNone/>
            </a:pPr>
            <a:r>
              <a:rPr lang="en-US" sz="2400" b="1" dirty="0">
                <a:solidFill>
                  <a:srgbClr val="162A3A"/>
                </a:solidFill>
                <a:latin typeface="Cambria" pitchFamily="34" charset="0"/>
                <a:ea typeface="Cambria" pitchFamily="34" charset="-122"/>
                <a:cs typeface="Cambria" pitchFamily="34" charset="-120"/>
              </a:rPr>
              <a:t>Your finding, as a full sentence — the claim, not the topic</a:t>
            </a:r>
            <a:endParaRPr lang="en-US" sz="2400" dirty="0"/>
          </a:p>
        </p:txBody>
      </p:sp>
      <p:sp>
        <p:nvSpPr>
          <p:cNvPr id="6" name="Shape 4"/>
          <p:cNvSpPr/>
          <p:nvPr/>
        </p:nvSpPr>
        <p:spPr>
          <a:xfrm>
            <a:off x="457200" y="1572768"/>
            <a:ext cx="11277295" cy="603504"/>
          </a:xfrm>
          <a:prstGeom prst="roundRect">
            <a:avLst>
              <a:gd name="adj" fmla="val 9091"/>
            </a:avLst>
          </a:prstGeom>
          <a:solidFill>
            <a:srgbClr val="EDF1F4"/>
          </a:solidFill>
          <a:ln w="12700">
            <a:solidFill>
              <a:srgbClr val="EDF1F4"/>
            </a:solidFill>
            <a:prstDash val="solid"/>
          </a:ln>
        </p:spPr>
        <p:txBody>
          <a:bodyPr/>
          <a:lstStyle/>
          <a:p>
            <a:endParaRPr lang="en-US"/>
          </a:p>
        </p:txBody>
      </p:sp>
      <p:sp>
        <p:nvSpPr>
          <p:cNvPr id="7" name="Shape 5"/>
          <p:cNvSpPr/>
          <p:nvPr/>
        </p:nvSpPr>
        <p:spPr>
          <a:xfrm>
            <a:off x="640080" y="1737360"/>
            <a:ext cx="274320" cy="274320"/>
          </a:xfrm>
          <a:prstGeom prst="ellipse">
            <a:avLst/>
          </a:prstGeom>
          <a:solidFill>
            <a:srgbClr val="C2410C"/>
          </a:solidFill>
          <a:ln w="12700">
            <a:solidFill>
              <a:srgbClr val="C2410C"/>
            </a:solidFill>
            <a:prstDash val="solid"/>
          </a:ln>
        </p:spPr>
        <p:txBody>
          <a:bodyPr/>
          <a:lstStyle/>
          <a:p>
            <a:endParaRPr lang="en-US"/>
          </a:p>
        </p:txBody>
      </p:sp>
      <p:sp>
        <p:nvSpPr>
          <p:cNvPr id="8" name="Text 6"/>
          <p:cNvSpPr txBox="1"/>
          <p:nvPr/>
        </p:nvSpPr>
        <p:spPr>
          <a:xfrm>
            <a:off x="640080" y="1741932"/>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024128" y="1719072"/>
            <a:ext cx="1371600" cy="310896"/>
          </a:xfrm>
          <a:prstGeom prst="rect">
            <a:avLst/>
          </a:prstGeom>
          <a:noFill/>
          <a:ln/>
        </p:spPr>
        <p:txBody>
          <a:bodyPr wrap="square" lIns="0" tIns="0" rIns="0" bIns="0" rtlCol="0" anchor="ctr"/>
          <a:lstStyle/>
          <a:p>
            <a:pPr marL="0" indent="0">
              <a:buNone/>
            </a:pPr>
            <a:r>
              <a:rPr lang="en-US" sz="1250" b="1" kern="0" spc="110" dirty="0">
                <a:solidFill>
                  <a:srgbClr val="162A3A"/>
                </a:solidFill>
                <a:latin typeface="Calibri" pitchFamily="34" charset="0"/>
                <a:ea typeface="Calibri" pitchFamily="34" charset="-122"/>
                <a:cs typeface="Calibri" pitchFamily="34" charset="-120"/>
              </a:rPr>
              <a:t>QUESTION</a:t>
            </a:r>
            <a:endParaRPr lang="en-US" sz="1250" dirty="0"/>
          </a:p>
        </p:txBody>
      </p:sp>
      <p:sp>
        <p:nvSpPr>
          <p:cNvPr id="10" name="Text 8"/>
          <p:cNvSpPr txBox="1"/>
          <p:nvPr/>
        </p:nvSpPr>
        <p:spPr>
          <a:xfrm>
            <a:off x="2468880" y="1719072"/>
            <a:ext cx="8259775" cy="310896"/>
          </a:xfrm>
          <a:prstGeom prst="rect">
            <a:avLst/>
          </a:prstGeom>
          <a:noFill/>
          <a:ln/>
        </p:spPr>
        <p:txBody>
          <a:bodyPr wrap="square" lIns="0" tIns="0" rIns="0" bIns="0" rtlCol="0" anchor="ctr"/>
          <a:lstStyle/>
          <a:p>
            <a:pPr marL="0" indent="0">
              <a:buNone/>
            </a:pPr>
            <a:r>
              <a:rPr lang="en-US" sz="1200" i="1" dirty="0">
                <a:solidFill>
                  <a:srgbClr val="5A6C79"/>
                </a:solidFill>
                <a:latin typeface="Calibri" pitchFamily="34" charset="0"/>
                <a:ea typeface="Calibri" pitchFamily="34" charset="-122"/>
                <a:cs typeface="Calibri" pitchFamily="34" charset="-120"/>
              </a:rPr>
              <a:t>One line. What did you want to find out, and why would another scientist care?</a:t>
            </a:r>
            <a:endParaRPr lang="en-US" sz="1200" dirty="0"/>
          </a:p>
        </p:txBody>
      </p:sp>
      <p:sp>
        <p:nvSpPr>
          <p:cNvPr id="11" name="Text 9"/>
          <p:cNvSpPr txBox="1"/>
          <p:nvPr/>
        </p:nvSpPr>
        <p:spPr>
          <a:xfrm>
            <a:off x="10545775" y="1719072"/>
            <a:ext cx="1005840" cy="310896"/>
          </a:xfrm>
          <a:prstGeom prst="rect">
            <a:avLst/>
          </a:prstGeom>
          <a:noFill/>
          <a:ln/>
        </p:spPr>
        <p:txBody>
          <a:bodyPr wrap="square" lIns="0" tIns="0" rIns="0" bIns="0" rtlCol="0" anchor="ctr"/>
          <a:lstStyle/>
          <a:p>
            <a:pPr marL="0" indent="0" algn="r">
              <a:buNone/>
            </a:pPr>
            <a:r>
              <a:rPr lang="en-US" sz="1050" i="1" dirty="0">
                <a:solidFill>
                  <a:srgbClr val="5A6C79"/>
                </a:solidFill>
                <a:latin typeface="Calibri" pitchFamily="34" charset="0"/>
                <a:ea typeface="Calibri" pitchFamily="34" charset="-122"/>
                <a:cs typeface="Calibri" pitchFamily="34" charset="-120"/>
              </a:rPr>
              <a:t>~15 s</a:t>
            </a:r>
            <a:endParaRPr lang="en-US" sz="1050" dirty="0"/>
          </a:p>
        </p:txBody>
      </p:sp>
      <p:sp>
        <p:nvSpPr>
          <p:cNvPr id="12" name="Shape 10"/>
          <p:cNvSpPr/>
          <p:nvPr/>
        </p:nvSpPr>
        <p:spPr>
          <a:xfrm>
            <a:off x="457200" y="2359152"/>
            <a:ext cx="5486400" cy="3145536"/>
          </a:xfrm>
          <a:prstGeom prst="roundRect">
            <a:avLst>
              <a:gd name="adj" fmla="val 1453"/>
            </a:avLst>
          </a:prstGeom>
          <a:solidFill>
            <a:srgbClr val="FFFFFF"/>
          </a:solidFill>
          <a:ln w="15875">
            <a:solidFill>
              <a:srgbClr val="A9B7C2"/>
            </a:solidFill>
            <a:prstDash val="dash"/>
          </a:ln>
        </p:spPr>
        <p:txBody>
          <a:bodyPr/>
          <a:lstStyle/>
          <a:p>
            <a:endParaRPr lang="en-US"/>
          </a:p>
        </p:txBody>
      </p:sp>
      <p:sp>
        <p:nvSpPr>
          <p:cNvPr id="13" name="Shape 11"/>
          <p:cNvSpPr/>
          <p:nvPr/>
        </p:nvSpPr>
        <p:spPr>
          <a:xfrm>
            <a:off x="658368" y="2505456"/>
            <a:ext cx="274320" cy="274320"/>
          </a:xfrm>
          <a:prstGeom prst="ellipse">
            <a:avLst/>
          </a:prstGeom>
          <a:solidFill>
            <a:srgbClr val="C2410C"/>
          </a:solidFill>
          <a:ln w="12700">
            <a:solidFill>
              <a:srgbClr val="C2410C"/>
            </a:solidFill>
            <a:prstDash val="solid"/>
          </a:ln>
        </p:spPr>
        <p:txBody>
          <a:bodyPr/>
          <a:lstStyle/>
          <a:p>
            <a:endParaRPr lang="en-US"/>
          </a:p>
        </p:txBody>
      </p:sp>
      <p:sp>
        <p:nvSpPr>
          <p:cNvPr id="14" name="Text 12"/>
          <p:cNvSpPr txBox="1"/>
          <p:nvPr/>
        </p:nvSpPr>
        <p:spPr>
          <a:xfrm>
            <a:off x="658368" y="2510028"/>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1042416" y="2487168"/>
            <a:ext cx="3785616" cy="310896"/>
          </a:xfrm>
          <a:prstGeom prst="rect">
            <a:avLst/>
          </a:prstGeom>
          <a:noFill/>
          <a:ln/>
        </p:spPr>
        <p:txBody>
          <a:bodyPr wrap="square" lIns="0" tIns="0" rIns="0" bIns="0" rtlCol="0" anchor="ctr"/>
          <a:lstStyle/>
          <a:p>
            <a:pPr marL="0" indent="0">
              <a:buNone/>
            </a:pPr>
            <a:r>
              <a:rPr lang="en-US" sz="1250" b="1" kern="0" spc="110" dirty="0">
                <a:solidFill>
                  <a:srgbClr val="162A3A"/>
                </a:solidFill>
                <a:latin typeface="Calibri" pitchFamily="34" charset="0"/>
                <a:ea typeface="Calibri" pitchFamily="34" charset="-122"/>
                <a:cs typeface="Calibri" pitchFamily="34" charset="-120"/>
              </a:rPr>
              <a:t>APPROACH  —  DRAW IT</a:t>
            </a:r>
            <a:endParaRPr lang="en-US" sz="1250" dirty="0"/>
          </a:p>
        </p:txBody>
      </p:sp>
      <p:sp>
        <p:nvSpPr>
          <p:cNvPr id="16" name="Text 14"/>
          <p:cNvSpPr txBox="1"/>
          <p:nvPr/>
        </p:nvSpPr>
        <p:spPr>
          <a:xfrm>
            <a:off x="4828032" y="2487168"/>
            <a:ext cx="914400" cy="310896"/>
          </a:xfrm>
          <a:prstGeom prst="rect">
            <a:avLst/>
          </a:prstGeom>
          <a:noFill/>
          <a:ln/>
        </p:spPr>
        <p:txBody>
          <a:bodyPr wrap="square" lIns="0" tIns="0" rIns="0" bIns="0" rtlCol="0" anchor="ctr"/>
          <a:lstStyle/>
          <a:p>
            <a:pPr marL="0" indent="0" algn="r">
              <a:buNone/>
            </a:pPr>
            <a:r>
              <a:rPr lang="en-US" sz="1050" i="1" dirty="0">
                <a:solidFill>
                  <a:srgbClr val="5A6C79"/>
                </a:solidFill>
                <a:latin typeface="Calibri" pitchFamily="34" charset="0"/>
                <a:ea typeface="Calibri" pitchFamily="34" charset="-122"/>
                <a:cs typeface="Calibri" pitchFamily="34" charset="-120"/>
              </a:rPr>
              <a:t>~30 s</a:t>
            </a:r>
            <a:endParaRPr lang="en-US" sz="1050" dirty="0"/>
          </a:p>
        </p:txBody>
      </p:sp>
      <p:sp>
        <p:nvSpPr>
          <p:cNvPr id="17" name="Text 15"/>
          <p:cNvSpPr txBox="1"/>
          <p:nvPr/>
        </p:nvSpPr>
        <p:spPr>
          <a:xfrm>
            <a:off x="731520" y="3493008"/>
            <a:ext cx="4937760" cy="365760"/>
          </a:xfrm>
          <a:prstGeom prst="rect">
            <a:avLst/>
          </a:prstGeom>
          <a:noFill/>
          <a:ln/>
        </p:spPr>
        <p:txBody>
          <a:bodyPr wrap="square" lIns="0" tIns="0" rIns="0" bIns="0" rtlCol="0" anchor="ctr"/>
          <a:lstStyle/>
          <a:p>
            <a:pPr marL="0" indent="0" algn="ctr">
              <a:buNone/>
            </a:pPr>
            <a:r>
              <a:rPr lang="en-US" sz="1600" b="1" dirty="0">
                <a:solidFill>
                  <a:srgbClr val="A9B7C2"/>
                </a:solidFill>
                <a:latin typeface="Cambria" pitchFamily="34" charset="0"/>
                <a:ea typeface="Cambria" pitchFamily="34" charset="-122"/>
                <a:cs typeface="Cambria" pitchFamily="34" charset="-120"/>
              </a:rPr>
              <a:t>Schematic of the setup</a:t>
            </a:r>
            <a:endParaRPr lang="en-US" sz="1600" dirty="0"/>
          </a:p>
        </p:txBody>
      </p:sp>
      <p:sp>
        <p:nvSpPr>
          <p:cNvPr id="18" name="Text 16"/>
          <p:cNvSpPr txBox="1"/>
          <p:nvPr/>
        </p:nvSpPr>
        <p:spPr>
          <a:xfrm>
            <a:off x="731520" y="3968496"/>
            <a:ext cx="4937760" cy="566928"/>
          </a:xfrm>
          <a:prstGeom prst="rect">
            <a:avLst/>
          </a:prstGeom>
          <a:noFill/>
          <a:ln/>
        </p:spPr>
        <p:txBody>
          <a:bodyPr wrap="square" lIns="0" tIns="0" rIns="0" bIns="0" rtlCol="0" anchor="t"/>
          <a:lstStyle/>
          <a:p>
            <a:pPr marL="0" indent="0" algn="ctr">
              <a:buNone/>
            </a:pPr>
            <a:r>
              <a:rPr lang="en-US" sz="1100" i="1" dirty="0">
                <a:solidFill>
                  <a:srgbClr val="5A6C79"/>
                </a:solidFill>
                <a:latin typeface="Calibri" pitchFamily="34" charset="0"/>
                <a:ea typeface="Calibri" pitchFamily="34" charset="-122"/>
                <a:cs typeface="Calibri" pitchFamily="34" charset="-120"/>
              </a:rPr>
              <a:t>Show what you varied and what you held fixed.</a:t>
            </a:r>
            <a:endParaRPr lang="en-US" sz="1100" dirty="0"/>
          </a:p>
          <a:p>
            <a:pPr marL="0" indent="0" algn="ctr">
              <a:buNone/>
            </a:pPr>
            <a:r>
              <a:rPr lang="en-US" sz="1100" i="1" dirty="0">
                <a:solidFill>
                  <a:srgbClr val="5A6C79"/>
                </a:solidFill>
                <a:latin typeface="Calibri" pitchFamily="34" charset="0"/>
                <a:ea typeface="Calibri" pitchFamily="34" charset="-122"/>
                <a:cs typeface="Calibri" pitchFamily="34" charset="-120"/>
              </a:rPr>
              <a:t>A drawing beats a paragraph of method.</a:t>
            </a:r>
            <a:endParaRPr lang="en-US" sz="1100" dirty="0"/>
          </a:p>
        </p:txBody>
      </p:sp>
      <p:sp>
        <p:nvSpPr>
          <p:cNvPr id="19" name="Text 17"/>
          <p:cNvSpPr txBox="1"/>
          <p:nvPr/>
        </p:nvSpPr>
        <p:spPr>
          <a:xfrm>
            <a:off x="658368" y="5102352"/>
            <a:ext cx="5084064" cy="310896"/>
          </a:xfrm>
          <a:prstGeom prst="rect">
            <a:avLst/>
          </a:prstGeom>
          <a:noFill/>
          <a:ln/>
        </p:spPr>
        <p:txBody>
          <a:bodyPr wrap="square" lIns="0" tIns="0" rIns="0" bIns="0" rtlCol="0" anchor="ctr"/>
          <a:lstStyle/>
          <a:p>
            <a:pPr marL="0" indent="0" algn="ctr">
              <a:buNone/>
            </a:pPr>
            <a:r>
              <a:rPr lang="en-US" sz="1050" i="1" dirty="0">
                <a:solidFill>
                  <a:srgbClr val="5A6C79"/>
                </a:solidFill>
                <a:latin typeface="Calibri" pitchFamily="34" charset="0"/>
                <a:ea typeface="Calibri" pitchFamily="34" charset="-122"/>
                <a:cs typeface="Calibri" pitchFamily="34" charset="-120"/>
              </a:rPr>
              <a:t>one line of conditions:  what changed, what stayed the same</a:t>
            </a:r>
            <a:endParaRPr lang="en-US" sz="1050" dirty="0"/>
          </a:p>
        </p:txBody>
      </p:sp>
      <p:sp>
        <p:nvSpPr>
          <p:cNvPr id="20" name="Shape 18"/>
          <p:cNvSpPr/>
          <p:nvPr/>
        </p:nvSpPr>
        <p:spPr>
          <a:xfrm>
            <a:off x="6248095" y="2359152"/>
            <a:ext cx="5486400" cy="3145536"/>
          </a:xfrm>
          <a:prstGeom prst="roundRect">
            <a:avLst>
              <a:gd name="adj" fmla="val 1453"/>
            </a:avLst>
          </a:prstGeom>
          <a:solidFill>
            <a:srgbClr val="FFFFFF"/>
          </a:solidFill>
          <a:ln w="15875">
            <a:solidFill>
              <a:srgbClr val="A9B7C2"/>
            </a:solidFill>
            <a:prstDash val="dash"/>
          </a:ln>
        </p:spPr>
        <p:txBody>
          <a:bodyPr/>
          <a:lstStyle/>
          <a:p>
            <a:endParaRPr lang="en-US"/>
          </a:p>
        </p:txBody>
      </p:sp>
      <p:sp>
        <p:nvSpPr>
          <p:cNvPr id="21" name="Shape 19"/>
          <p:cNvSpPr/>
          <p:nvPr/>
        </p:nvSpPr>
        <p:spPr>
          <a:xfrm>
            <a:off x="6449263" y="2505456"/>
            <a:ext cx="274320" cy="274320"/>
          </a:xfrm>
          <a:prstGeom prst="ellipse">
            <a:avLst/>
          </a:prstGeom>
          <a:solidFill>
            <a:srgbClr val="C2410C"/>
          </a:solidFill>
          <a:ln w="12700">
            <a:solidFill>
              <a:srgbClr val="C2410C"/>
            </a:solidFill>
            <a:prstDash val="solid"/>
          </a:ln>
        </p:spPr>
        <p:txBody>
          <a:bodyPr/>
          <a:lstStyle/>
          <a:p>
            <a:endParaRPr lang="en-US"/>
          </a:p>
        </p:txBody>
      </p:sp>
      <p:sp>
        <p:nvSpPr>
          <p:cNvPr id="22" name="Text 20"/>
          <p:cNvSpPr txBox="1"/>
          <p:nvPr/>
        </p:nvSpPr>
        <p:spPr>
          <a:xfrm>
            <a:off x="6449263" y="2510028"/>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Text 21"/>
          <p:cNvSpPr txBox="1"/>
          <p:nvPr/>
        </p:nvSpPr>
        <p:spPr>
          <a:xfrm>
            <a:off x="6833311" y="2487168"/>
            <a:ext cx="3785616" cy="310896"/>
          </a:xfrm>
          <a:prstGeom prst="rect">
            <a:avLst/>
          </a:prstGeom>
          <a:noFill/>
          <a:ln/>
        </p:spPr>
        <p:txBody>
          <a:bodyPr wrap="square" lIns="0" tIns="0" rIns="0" bIns="0" rtlCol="0" anchor="ctr"/>
          <a:lstStyle/>
          <a:p>
            <a:pPr marL="0" indent="0">
              <a:buNone/>
            </a:pPr>
            <a:r>
              <a:rPr lang="en-US" sz="1250" b="1" kern="0" spc="110" dirty="0">
                <a:solidFill>
                  <a:srgbClr val="162A3A"/>
                </a:solidFill>
                <a:latin typeface="Calibri" pitchFamily="34" charset="0"/>
                <a:ea typeface="Calibri" pitchFamily="34" charset="-122"/>
                <a:cs typeface="Calibri" pitchFamily="34" charset="-120"/>
              </a:rPr>
              <a:t>RESULT  —  PLOT IT</a:t>
            </a:r>
            <a:endParaRPr lang="en-US" sz="1250" dirty="0"/>
          </a:p>
        </p:txBody>
      </p:sp>
      <p:sp>
        <p:nvSpPr>
          <p:cNvPr id="24" name="Text 22"/>
          <p:cNvSpPr txBox="1"/>
          <p:nvPr/>
        </p:nvSpPr>
        <p:spPr>
          <a:xfrm>
            <a:off x="10618927" y="2487168"/>
            <a:ext cx="914400" cy="310896"/>
          </a:xfrm>
          <a:prstGeom prst="rect">
            <a:avLst/>
          </a:prstGeom>
          <a:noFill/>
          <a:ln/>
        </p:spPr>
        <p:txBody>
          <a:bodyPr wrap="square" lIns="0" tIns="0" rIns="0" bIns="0" rtlCol="0" anchor="ctr"/>
          <a:lstStyle/>
          <a:p>
            <a:pPr marL="0" indent="0" algn="r">
              <a:buNone/>
            </a:pPr>
            <a:r>
              <a:rPr lang="en-US" sz="1050" i="1" dirty="0">
                <a:solidFill>
                  <a:srgbClr val="5A6C79"/>
                </a:solidFill>
                <a:latin typeface="Calibri" pitchFamily="34" charset="0"/>
                <a:ea typeface="Calibri" pitchFamily="34" charset="-122"/>
                <a:cs typeface="Calibri" pitchFamily="34" charset="-120"/>
              </a:rPr>
              <a:t>~50 s</a:t>
            </a:r>
            <a:endParaRPr lang="en-US" sz="1050" dirty="0"/>
          </a:p>
        </p:txBody>
      </p:sp>
      <p:sp>
        <p:nvSpPr>
          <p:cNvPr id="25" name="Text 23"/>
          <p:cNvSpPr txBox="1"/>
          <p:nvPr/>
        </p:nvSpPr>
        <p:spPr>
          <a:xfrm>
            <a:off x="6522415" y="3493008"/>
            <a:ext cx="4937760" cy="365760"/>
          </a:xfrm>
          <a:prstGeom prst="rect">
            <a:avLst/>
          </a:prstGeom>
          <a:noFill/>
          <a:ln/>
        </p:spPr>
        <p:txBody>
          <a:bodyPr wrap="square" lIns="0" tIns="0" rIns="0" bIns="0" rtlCol="0" anchor="ctr"/>
          <a:lstStyle/>
          <a:p>
            <a:pPr marL="0" indent="0" algn="ctr">
              <a:buNone/>
            </a:pPr>
            <a:r>
              <a:rPr lang="en-US" sz="1600" b="1" dirty="0">
                <a:solidFill>
                  <a:srgbClr val="A9B7C2"/>
                </a:solidFill>
                <a:latin typeface="Cambria" pitchFamily="34" charset="0"/>
                <a:ea typeface="Cambria" pitchFamily="34" charset="-122"/>
                <a:cs typeface="Cambria" pitchFamily="34" charset="-120"/>
              </a:rPr>
              <a:t>One figure</a:t>
            </a:r>
            <a:endParaRPr lang="en-US" sz="1600" dirty="0"/>
          </a:p>
        </p:txBody>
      </p:sp>
      <p:sp>
        <p:nvSpPr>
          <p:cNvPr id="26" name="Text 24"/>
          <p:cNvSpPr txBox="1"/>
          <p:nvPr/>
        </p:nvSpPr>
        <p:spPr>
          <a:xfrm>
            <a:off x="6522415" y="3968496"/>
            <a:ext cx="4937760" cy="566928"/>
          </a:xfrm>
          <a:prstGeom prst="rect">
            <a:avLst/>
          </a:prstGeom>
          <a:noFill/>
          <a:ln/>
        </p:spPr>
        <p:txBody>
          <a:bodyPr wrap="square" lIns="0" tIns="0" rIns="0" bIns="0" rtlCol="0" anchor="t"/>
          <a:lstStyle/>
          <a:p>
            <a:pPr marL="0" indent="0" algn="ctr">
              <a:buNone/>
            </a:pPr>
            <a:r>
              <a:rPr lang="en-US" sz="1100" i="1" dirty="0">
                <a:solidFill>
                  <a:srgbClr val="5A6C79"/>
                </a:solidFill>
                <a:latin typeface="Calibri" pitchFamily="34" charset="0"/>
                <a:ea typeface="Calibri" pitchFamily="34" charset="-122"/>
                <a:cs typeface="Calibri" pitchFamily="34" charset="-120"/>
              </a:rPr>
              <a:t>Points with uncertainties, sized for the back row.</a:t>
            </a:r>
            <a:endParaRPr lang="en-US" sz="1100" dirty="0"/>
          </a:p>
          <a:p>
            <a:pPr marL="0" indent="0" algn="ctr">
              <a:buNone/>
            </a:pPr>
            <a:r>
              <a:rPr lang="en-US" sz="1100" i="1" dirty="0">
                <a:solidFill>
                  <a:srgbClr val="5A6C79"/>
                </a:solidFill>
                <a:latin typeface="Calibri" pitchFamily="34" charset="0"/>
                <a:ea typeface="Calibri" pitchFamily="34" charset="-122"/>
                <a:cs typeface="Calibri" pitchFamily="34" charset="-120"/>
              </a:rPr>
              <a:t>Show every trial; label the series on the plot.</a:t>
            </a:r>
            <a:endParaRPr lang="en-US" sz="1100" dirty="0"/>
          </a:p>
        </p:txBody>
      </p:sp>
      <p:sp>
        <p:nvSpPr>
          <p:cNvPr id="27" name="Text 25"/>
          <p:cNvSpPr txBox="1"/>
          <p:nvPr/>
        </p:nvSpPr>
        <p:spPr>
          <a:xfrm>
            <a:off x="6449263" y="5102352"/>
            <a:ext cx="5084064" cy="310896"/>
          </a:xfrm>
          <a:prstGeom prst="rect">
            <a:avLst/>
          </a:prstGeom>
          <a:noFill/>
          <a:ln/>
        </p:spPr>
        <p:txBody>
          <a:bodyPr wrap="square" lIns="0" tIns="0" rIns="0" bIns="0" rtlCol="0" anchor="ctr"/>
          <a:lstStyle/>
          <a:p>
            <a:pPr marL="0" indent="0" algn="ctr">
              <a:buNone/>
            </a:pPr>
            <a:r>
              <a:rPr lang="en-US" sz="1050" i="1" dirty="0">
                <a:solidFill>
                  <a:srgbClr val="5A6C79"/>
                </a:solidFill>
                <a:latin typeface="Calibri" pitchFamily="34" charset="0"/>
                <a:ea typeface="Calibri" pitchFamily="34" charset="-122"/>
                <a:cs typeface="Calibri" pitchFamily="34" charset="-120"/>
              </a:rPr>
              <a:t>n = ____ trials  ·  bars = ____  ·  random or systematic?</a:t>
            </a:r>
            <a:endParaRPr lang="en-US" sz="1050" dirty="0"/>
          </a:p>
        </p:txBody>
      </p:sp>
      <p:sp>
        <p:nvSpPr>
          <p:cNvPr id="28" name="Shape 26"/>
          <p:cNvSpPr/>
          <p:nvPr/>
        </p:nvSpPr>
        <p:spPr>
          <a:xfrm>
            <a:off x="457200" y="5687568"/>
            <a:ext cx="11277295" cy="768096"/>
          </a:xfrm>
          <a:prstGeom prst="roundRect">
            <a:avLst>
              <a:gd name="adj" fmla="val 7143"/>
            </a:avLst>
          </a:prstGeom>
          <a:solidFill>
            <a:srgbClr val="EDF1F4"/>
          </a:solidFill>
          <a:ln w="12700">
            <a:solidFill>
              <a:srgbClr val="EDF1F4"/>
            </a:solidFill>
            <a:prstDash val="solid"/>
          </a:ln>
        </p:spPr>
        <p:txBody>
          <a:bodyPr/>
          <a:lstStyle/>
          <a:p>
            <a:endParaRPr lang="en-US"/>
          </a:p>
        </p:txBody>
      </p:sp>
      <p:sp>
        <p:nvSpPr>
          <p:cNvPr id="29" name="Shape 27"/>
          <p:cNvSpPr/>
          <p:nvPr/>
        </p:nvSpPr>
        <p:spPr>
          <a:xfrm>
            <a:off x="640080" y="5815584"/>
            <a:ext cx="274320" cy="274320"/>
          </a:xfrm>
          <a:prstGeom prst="ellipse">
            <a:avLst/>
          </a:prstGeom>
          <a:solidFill>
            <a:srgbClr val="C2410C"/>
          </a:solidFill>
          <a:ln w="12700">
            <a:solidFill>
              <a:srgbClr val="C2410C"/>
            </a:solidFill>
            <a:prstDash val="solid"/>
          </a:ln>
        </p:spPr>
        <p:txBody>
          <a:bodyPr/>
          <a:lstStyle/>
          <a:p>
            <a:endParaRPr lang="en-US"/>
          </a:p>
        </p:txBody>
      </p:sp>
      <p:sp>
        <p:nvSpPr>
          <p:cNvPr id="30" name="Text 28"/>
          <p:cNvSpPr txBox="1"/>
          <p:nvPr/>
        </p:nvSpPr>
        <p:spPr>
          <a:xfrm>
            <a:off x="640080" y="5820156"/>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 29"/>
          <p:cNvSpPr txBox="1"/>
          <p:nvPr/>
        </p:nvSpPr>
        <p:spPr>
          <a:xfrm>
            <a:off x="1024128" y="5797296"/>
            <a:ext cx="2926080" cy="310896"/>
          </a:xfrm>
          <a:prstGeom prst="rect">
            <a:avLst/>
          </a:prstGeom>
          <a:noFill/>
          <a:ln/>
        </p:spPr>
        <p:txBody>
          <a:bodyPr wrap="square" lIns="0" tIns="0" rIns="0" bIns="0" rtlCol="0" anchor="ctr"/>
          <a:lstStyle/>
          <a:p>
            <a:pPr marL="0" indent="0">
              <a:buNone/>
            </a:pPr>
            <a:r>
              <a:rPr lang="en-US" sz="1250" b="1" kern="0" spc="110" dirty="0">
                <a:solidFill>
                  <a:srgbClr val="162A3A"/>
                </a:solidFill>
                <a:latin typeface="Calibri" pitchFamily="34" charset="0"/>
                <a:ea typeface="Calibri" pitchFamily="34" charset="-122"/>
                <a:cs typeface="Calibri" pitchFamily="34" charset="-120"/>
              </a:rPr>
              <a:t>TAKEAWAY  →  NEXT STEP</a:t>
            </a:r>
            <a:endParaRPr lang="en-US" sz="1250" dirty="0"/>
          </a:p>
        </p:txBody>
      </p:sp>
      <p:sp>
        <p:nvSpPr>
          <p:cNvPr id="32" name="Text 30"/>
          <p:cNvSpPr txBox="1"/>
          <p:nvPr/>
        </p:nvSpPr>
        <p:spPr>
          <a:xfrm>
            <a:off x="10545775" y="5797296"/>
            <a:ext cx="1005840" cy="310896"/>
          </a:xfrm>
          <a:prstGeom prst="rect">
            <a:avLst/>
          </a:prstGeom>
          <a:noFill/>
          <a:ln/>
        </p:spPr>
        <p:txBody>
          <a:bodyPr wrap="square" lIns="0" tIns="0" rIns="0" bIns="0" rtlCol="0" anchor="ctr"/>
          <a:lstStyle/>
          <a:p>
            <a:pPr marL="0" indent="0" algn="r">
              <a:buNone/>
            </a:pPr>
            <a:r>
              <a:rPr lang="en-US" sz="1050" i="1" dirty="0">
                <a:solidFill>
                  <a:srgbClr val="5A6C79"/>
                </a:solidFill>
                <a:latin typeface="Calibri" pitchFamily="34" charset="0"/>
                <a:ea typeface="Calibri" pitchFamily="34" charset="-122"/>
                <a:cs typeface="Calibri" pitchFamily="34" charset="-120"/>
              </a:rPr>
              <a:t>~25 s</a:t>
            </a:r>
            <a:endParaRPr lang="en-US" sz="1050" dirty="0"/>
          </a:p>
        </p:txBody>
      </p:sp>
      <p:sp>
        <p:nvSpPr>
          <p:cNvPr id="33" name="Text 31"/>
          <p:cNvSpPr txBox="1"/>
          <p:nvPr/>
        </p:nvSpPr>
        <p:spPr>
          <a:xfrm>
            <a:off x="658368" y="6089904"/>
            <a:ext cx="10874959" cy="310896"/>
          </a:xfrm>
          <a:prstGeom prst="rect">
            <a:avLst/>
          </a:prstGeom>
          <a:noFill/>
          <a:ln/>
        </p:spPr>
        <p:txBody>
          <a:bodyPr wrap="square" lIns="0" tIns="0" rIns="0" bIns="0" rtlCol="0" anchor="t"/>
          <a:lstStyle/>
          <a:p>
            <a:pPr marL="0" indent="0">
              <a:buNone/>
            </a:pPr>
            <a:r>
              <a:rPr lang="en-US" sz="1150" i="1" dirty="0">
                <a:solidFill>
                  <a:srgbClr val="5A6C79"/>
                </a:solidFill>
                <a:latin typeface="Calibri" pitchFamily="34" charset="0"/>
                <a:ea typeface="Calibri" pitchFamily="34" charset="-122"/>
                <a:cs typeface="Calibri" pitchFamily="34" charset="-120"/>
              </a:rPr>
              <a:t>What it means, in one sentence  ·  the next experiment  ·  one honest limitation. Rehearse this line word for word.</a:t>
            </a:r>
            <a:endParaRPr lang="en-US" sz="1150" dirty="0"/>
          </a:p>
        </p:txBody>
      </p:sp>
      <p:sp>
        <p:nvSpPr>
          <p:cNvPr id="34" name="Text 8">
            <a:extLst>
              <a:ext uri="{FF2B5EF4-FFF2-40B4-BE49-F238E27FC236}">
                <a16:creationId xmlns:a16="http://schemas.microsoft.com/office/drawing/2014/main" id="{88178848-5BC1-BBE4-72C7-EBD20C70D9A6}"/>
              </a:ext>
            </a:extLst>
          </p:cNvPr>
          <p:cNvSpPr txBox="1"/>
          <p:nvPr/>
        </p:nvSpPr>
        <p:spPr>
          <a:xfrm>
            <a:off x="567343" y="1046572"/>
            <a:ext cx="8259775" cy="310896"/>
          </a:xfrm>
          <a:prstGeom prst="rect">
            <a:avLst/>
          </a:prstGeom>
          <a:noFill/>
          <a:ln/>
        </p:spPr>
        <p:txBody>
          <a:bodyPr wrap="square" lIns="0" tIns="0" rIns="0" bIns="0" rtlCol="0" anchor="ctr"/>
          <a:lstStyle/>
          <a:p>
            <a:pPr marL="0" indent="0">
              <a:buNone/>
            </a:pPr>
            <a:r>
              <a:rPr lang="en-US" sz="1200" i="1" dirty="0">
                <a:solidFill>
                  <a:srgbClr val="5A6C79"/>
                </a:solidFill>
                <a:latin typeface="Calibri" pitchFamily="34" charset="0"/>
                <a:ea typeface="Calibri" pitchFamily="34" charset="-122"/>
                <a:cs typeface="Calibri" pitchFamily="34" charset="-120"/>
              </a:rPr>
              <a:t>Resize and shift boxes to fit your visual elements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19456"/>
            <a:ext cx="6766560" cy="237744"/>
          </a:xfrm>
          <a:prstGeom prst="rect">
            <a:avLst/>
          </a:prstGeom>
          <a:noFill/>
          <a:ln/>
        </p:spPr>
        <p:txBody>
          <a:bodyPr wrap="square" lIns="0" tIns="0" rIns="0" bIns="0" rtlCol="0" anchor="ctr"/>
          <a:lstStyle/>
          <a:p>
            <a:pPr marL="0" indent="0">
              <a:buNone/>
            </a:pPr>
            <a:r>
              <a:rPr lang="en-US" sz="1100" b="1" kern="0" spc="80" dirty="0">
                <a:solidFill>
                  <a:srgbClr val="C2410C"/>
                </a:solidFill>
                <a:latin typeface="Calibri" pitchFamily="34" charset="0"/>
                <a:ea typeface="Calibri" pitchFamily="34" charset="-122"/>
                <a:cs typeface="Calibri" pitchFamily="34" charset="-120"/>
              </a:rPr>
              <a:t>EXAMPLE 1</a:t>
            </a:r>
            <a:endParaRPr lang="en-US" sz="1100" dirty="0"/>
          </a:p>
        </p:txBody>
      </p:sp>
      <p:sp>
        <p:nvSpPr>
          <p:cNvPr id="3" name="Text 1"/>
          <p:cNvSpPr txBox="1"/>
          <p:nvPr/>
        </p:nvSpPr>
        <p:spPr>
          <a:xfrm>
            <a:off x="5486400" y="219456"/>
            <a:ext cx="6248095" cy="237744"/>
          </a:xfrm>
          <a:prstGeom prst="rect">
            <a:avLst/>
          </a:prstGeom>
          <a:noFill/>
          <a:ln/>
        </p:spPr>
        <p:txBody>
          <a:bodyPr wrap="square" lIns="0" tIns="0" rIns="0" bIns="0" rtlCol="0" anchor="ctr"/>
          <a:lstStyle/>
          <a:p>
            <a:pPr marL="0" indent="0" algn="r">
              <a:buNone/>
            </a:pPr>
            <a:r>
              <a:rPr lang="en-US" sz="1100" dirty="0">
                <a:solidFill>
                  <a:srgbClr val="5A6C79"/>
                </a:solidFill>
                <a:latin typeface="Calibri" pitchFamily="34" charset="0"/>
                <a:ea typeface="Calibri" pitchFamily="34" charset="-122"/>
                <a:cs typeface="Calibri" pitchFamily="34" charset="-120"/>
              </a:rPr>
              <a:t>M. Ilton  ·  Module 0: Reaction Time</a:t>
            </a:r>
            <a:endParaRPr lang="en-US" sz="1100" dirty="0"/>
          </a:p>
        </p:txBody>
      </p:sp>
      <p:sp>
        <p:nvSpPr>
          <p:cNvPr id="4" name="Text 2"/>
          <p:cNvSpPr txBox="1"/>
          <p:nvPr/>
        </p:nvSpPr>
        <p:spPr>
          <a:xfrm>
            <a:off x="457200" y="475488"/>
            <a:ext cx="11277295" cy="768096"/>
          </a:xfrm>
          <a:prstGeom prst="rect">
            <a:avLst/>
          </a:prstGeom>
          <a:noFill/>
          <a:ln/>
        </p:spPr>
        <p:txBody>
          <a:bodyPr wrap="square" lIns="0" tIns="0" rIns="0" bIns="0" rtlCol="0" anchor="t"/>
          <a:lstStyle/>
          <a:p>
            <a:pPr marL="0" indent="0">
              <a:buNone/>
            </a:pPr>
            <a:r>
              <a:rPr lang="en-US" sz="2400" b="1" dirty="0">
                <a:solidFill>
                  <a:srgbClr val="162A3A"/>
                </a:solidFill>
                <a:latin typeface="Cambria" pitchFamily="34" charset="0"/>
                <a:ea typeface="Cambria" pitchFamily="34" charset="-122"/>
                <a:cs typeface="Cambria" pitchFamily="34" charset="-120"/>
              </a:rPr>
              <a:t>Resting the forearm on the table shortens measured reaction time by 28 ± 11 </a:t>
            </a:r>
            <a:r>
              <a:rPr lang="en-US" sz="2400" b="1" dirty="0" err="1">
                <a:solidFill>
                  <a:srgbClr val="162A3A"/>
                </a:solidFill>
                <a:latin typeface="Cambria" pitchFamily="34" charset="0"/>
                <a:ea typeface="Cambria" pitchFamily="34" charset="-122"/>
                <a:cs typeface="Cambria" pitchFamily="34" charset="-120"/>
              </a:rPr>
              <a:t>ms</a:t>
            </a:r>
            <a:endParaRPr lang="en-US" sz="2400" dirty="0"/>
          </a:p>
        </p:txBody>
      </p:sp>
      <p:sp>
        <p:nvSpPr>
          <p:cNvPr id="5" name="Shape 3"/>
          <p:cNvSpPr/>
          <p:nvPr/>
        </p:nvSpPr>
        <p:spPr>
          <a:xfrm>
            <a:off x="457200" y="994410"/>
            <a:ext cx="11277295" cy="603504"/>
          </a:xfrm>
          <a:prstGeom prst="roundRect">
            <a:avLst>
              <a:gd name="adj" fmla="val 9091"/>
            </a:avLst>
          </a:prstGeom>
          <a:solidFill>
            <a:srgbClr val="EDF1F4"/>
          </a:solidFill>
          <a:ln w="12700">
            <a:solidFill>
              <a:srgbClr val="EDF1F4"/>
            </a:solidFill>
            <a:prstDash val="solid"/>
          </a:ln>
        </p:spPr>
        <p:txBody>
          <a:bodyPr/>
          <a:lstStyle/>
          <a:p>
            <a:endParaRPr lang="en-US"/>
          </a:p>
        </p:txBody>
      </p:sp>
      <p:sp>
        <p:nvSpPr>
          <p:cNvPr id="6" name="Shape 4"/>
          <p:cNvSpPr/>
          <p:nvPr/>
        </p:nvSpPr>
        <p:spPr>
          <a:xfrm>
            <a:off x="640080" y="1159002"/>
            <a:ext cx="274320" cy="274320"/>
          </a:xfrm>
          <a:prstGeom prst="ellipse">
            <a:avLst/>
          </a:prstGeom>
          <a:solidFill>
            <a:srgbClr val="C2410C"/>
          </a:solidFill>
          <a:ln w="12700">
            <a:solidFill>
              <a:srgbClr val="C2410C"/>
            </a:solidFill>
            <a:prstDash val="solid"/>
          </a:ln>
        </p:spPr>
        <p:txBody>
          <a:bodyPr/>
          <a:lstStyle/>
          <a:p>
            <a:endParaRPr lang="en-US"/>
          </a:p>
        </p:txBody>
      </p:sp>
      <p:sp>
        <p:nvSpPr>
          <p:cNvPr id="7" name="Text 5"/>
          <p:cNvSpPr txBox="1"/>
          <p:nvPr/>
        </p:nvSpPr>
        <p:spPr>
          <a:xfrm>
            <a:off x="640080" y="1163574"/>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024128" y="1140714"/>
            <a:ext cx="1371600" cy="310896"/>
          </a:xfrm>
          <a:prstGeom prst="rect">
            <a:avLst/>
          </a:prstGeom>
          <a:noFill/>
          <a:ln/>
        </p:spPr>
        <p:txBody>
          <a:bodyPr wrap="square" lIns="0" tIns="0" rIns="0" bIns="0" rtlCol="0" anchor="ctr"/>
          <a:lstStyle/>
          <a:p>
            <a:pPr marL="0" indent="0">
              <a:buNone/>
            </a:pPr>
            <a:r>
              <a:rPr lang="en-US" sz="1400" b="1" kern="0" spc="110" dirty="0">
                <a:solidFill>
                  <a:srgbClr val="162A3A"/>
                </a:solidFill>
                <a:latin typeface="Calibri" pitchFamily="34" charset="0"/>
                <a:ea typeface="Calibri" pitchFamily="34" charset="-122"/>
                <a:cs typeface="Calibri" pitchFamily="34" charset="-120"/>
              </a:rPr>
              <a:t>QUESTION</a:t>
            </a:r>
            <a:endParaRPr lang="en-US" sz="1400" dirty="0"/>
          </a:p>
        </p:txBody>
      </p:sp>
      <p:sp>
        <p:nvSpPr>
          <p:cNvPr id="9" name="Text 7"/>
          <p:cNvSpPr txBox="1"/>
          <p:nvPr/>
        </p:nvSpPr>
        <p:spPr>
          <a:xfrm>
            <a:off x="2468880" y="1140714"/>
            <a:ext cx="8899855" cy="310896"/>
          </a:xfrm>
          <a:prstGeom prst="rect">
            <a:avLst/>
          </a:prstGeom>
          <a:noFill/>
          <a:ln/>
        </p:spPr>
        <p:txBody>
          <a:bodyPr wrap="square" lIns="0" tIns="0" rIns="0" bIns="0" rtlCol="0" anchor="ctr"/>
          <a:lstStyle/>
          <a:p>
            <a:pPr marL="0" indent="0">
              <a:buNone/>
            </a:pPr>
            <a:r>
              <a:rPr lang="en-US" sz="1600" dirty="0">
                <a:solidFill>
                  <a:srgbClr val="3C5165"/>
                </a:solidFill>
                <a:latin typeface="Calibri" pitchFamily="34" charset="0"/>
                <a:ea typeface="Calibri" pitchFamily="34" charset="-122"/>
                <a:cs typeface="Calibri" pitchFamily="34" charset="-120"/>
              </a:rPr>
              <a:t>Does supporting your catching arm reduce the measured reaction time? </a:t>
            </a:r>
            <a:endParaRPr lang="en-US" sz="1600" dirty="0"/>
          </a:p>
        </p:txBody>
      </p:sp>
      <p:sp>
        <p:nvSpPr>
          <p:cNvPr id="10" name="Shape 8"/>
          <p:cNvSpPr/>
          <p:nvPr/>
        </p:nvSpPr>
        <p:spPr>
          <a:xfrm>
            <a:off x="457200" y="1835658"/>
            <a:ext cx="5486400" cy="3669030"/>
          </a:xfrm>
          <a:prstGeom prst="roundRect">
            <a:avLst>
              <a:gd name="adj" fmla="val 1453"/>
            </a:avLst>
          </a:prstGeom>
          <a:solidFill>
            <a:srgbClr val="FFFFFF"/>
          </a:solidFill>
          <a:ln w="12700">
            <a:solidFill>
              <a:srgbClr val="A9B7C2"/>
            </a:solidFill>
            <a:prstDash val="solid"/>
          </a:ln>
        </p:spPr>
        <p:txBody>
          <a:bodyPr/>
          <a:lstStyle/>
          <a:p>
            <a:endParaRPr lang="en-US"/>
          </a:p>
        </p:txBody>
      </p:sp>
      <p:sp>
        <p:nvSpPr>
          <p:cNvPr id="11" name="Shape 9"/>
          <p:cNvSpPr/>
          <p:nvPr/>
        </p:nvSpPr>
        <p:spPr>
          <a:xfrm>
            <a:off x="658368" y="2048256"/>
            <a:ext cx="274320" cy="274320"/>
          </a:xfrm>
          <a:prstGeom prst="ellipse">
            <a:avLst/>
          </a:prstGeom>
          <a:solidFill>
            <a:srgbClr val="C2410C"/>
          </a:solidFill>
          <a:ln w="12700">
            <a:solidFill>
              <a:srgbClr val="C2410C"/>
            </a:solidFill>
            <a:prstDash val="solid"/>
          </a:ln>
        </p:spPr>
        <p:txBody>
          <a:bodyPr/>
          <a:lstStyle/>
          <a:p>
            <a:endParaRPr lang="en-US"/>
          </a:p>
        </p:txBody>
      </p:sp>
      <p:sp>
        <p:nvSpPr>
          <p:cNvPr id="12" name="Text 10"/>
          <p:cNvSpPr txBox="1"/>
          <p:nvPr/>
        </p:nvSpPr>
        <p:spPr>
          <a:xfrm>
            <a:off x="658368" y="2052828"/>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042416" y="2029968"/>
            <a:ext cx="4700016" cy="310896"/>
          </a:xfrm>
          <a:prstGeom prst="rect">
            <a:avLst/>
          </a:prstGeom>
          <a:noFill/>
          <a:ln/>
        </p:spPr>
        <p:txBody>
          <a:bodyPr wrap="square" lIns="0" tIns="0" rIns="0" bIns="0" rtlCol="0" anchor="ctr"/>
          <a:lstStyle/>
          <a:p>
            <a:pPr marL="0" indent="0">
              <a:buNone/>
            </a:pPr>
            <a:r>
              <a:rPr lang="en-US" sz="1400" b="1" kern="0" spc="110" dirty="0">
                <a:solidFill>
                  <a:srgbClr val="162A3A"/>
                </a:solidFill>
                <a:latin typeface="Calibri" pitchFamily="34" charset="0"/>
                <a:ea typeface="Calibri" pitchFamily="34" charset="-122"/>
                <a:cs typeface="Calibri" pitchFamily="34" charset="-120"/>
              </a:rPr>
              <a:t>APPROACH</a:t>
            </a:r>
            <a:endParaRPr lang="en-US" sz="1400" dirty="0"/>
          </a:p>
        </p:txBody>
      </p:sp>
      <p:sp>
        <p:nvSpPr>
          <p:cNvPr id="14" name="Text 12"/>
          <p:cNvSpPr txBox="1"/>
          <p:nvPr/>
        </p:nvSpPr>
        <p:spPr>
          <a:xfrm>
            <a:off x="941832" y="2515362"/>
            <a:ext cx="1783080" cy="219456"/>
          </a:xfrm>
          <a:prstGeom prst="rect">
            <a:avLst/>
          </a:prstGeom>
          <a:noFill/>
          <a:ln/>
        </p:spPr>
        <p:txBody>
          <a:bodyPr wrap="square" lIns="0" tIns="0" rIns="0" bIns="0" rtlCol="0" anchor="ctr"/>
          <a:lstStyle/>
          <a:p>
            <a:pPr marL="0" indent="0" algn="ctr">
              <a:buNone/>
            </a:pPr>
            <a:r>
              <a:rPr lang="en-US" sz="1400" b="1" dirty="0">
                <a:solidFill>
                  <a:srgbClr val="162A3A"/>
                </a:solidFill>
                <a:latin typeface="Calibri" pitchFamily="34" charset="0"/>
                <a:ea typeface="Calibri" pitchFamily="34" charset="-122"/>
                <a:cs typeface="Calibri" pitchFamily="34" charset="-120"/>
              </a:rPr>
              <a:t>arm supported</a:t>
            </a:r>
            <a:endParaRPr lang="en-US" sz="1400" dirty="0"/>
          </a:p>
        </p:txBody>
      </p:sp>
      <p:sp>
        <p:nvSpPr>
          <p:cNvPr id="15" name="Shape 13"/>
          <p:cNvSpPr/>
          <p:nvPr/>
        </p:nvSpPr>
        <p:spPr>
          <a:xfrm>
            <a:off x="2084832" y="2940304"/>
            <a:ext cx="146304" cy="1481328"/>
          </a:xfrm>
          <a:prstGeom prst="rect">
            <a:avLst/>
          </a:prstGeom>
          <a:solidFill>
            <a:srgbClr val="F4F1EC"/>
          </a:solidFill>
          <a:ln w="12700">
            <a:solidFill>
              <a:srgbClr val="162A3A"/>
            </a:solidFill>
            <a:prstDash val="solid"/>
          </a:ln>
        </p:spPr>
        <p:txBody>
          <a:bodyPr/>
          <a:lstStyle/>
          <a:p>
            <a:endParaRPr lang="en-US"/>
          </a:p>
        </p:txBody>
      </p:sp>
      <p:sp>
        <p:nvSpPr>
          <p:cNvPr id="16" name="Shape 14"/>
          <p:cNvSpPr/>
          <p:nvPr/>
        </p:nvSpPr>
        <p:spPr>
          <a:xfrm>
            <a:off x="2029968" y="2903728"/>
            <a:ext cx="256032" cy="118872"/>
          </a:xfrm>
          <a:prstGeom prst="rect">
            <a:avLst/>
          </a:prstGeom>
          <a:solidFill>
            <a:srgbClr val="162A3A"/>
          </a:solidFill>
          <a:ln w="12700">
            <a:solidFill>
              <a:srgbClr val="162A3A"/>
            </a:solidFill>
            <a:prstDash val="solid"/>
          </a:ln>
        </p:spPr>
        <p:txBody>
          <a:bodyPr/>
          <a:lstStyle/>
          <a:p>
            <a:endParaRPr lang="en-US"/>
          </a:p>
        </p:txBody>
      </p:sp>
      <p:sp>
        <p:nvSpPr>
          <p:cNvPr id="17" name="Shape 15"/>
          <p:cNvSpPr/>
          <p:nvPr/>
        </p:nvSpPr>
        <p:spPr>
          <a:xfrm>
            <a:off x="2084832" y="3159760"/>
            <a:ext cx="64008" cy="0"/>
          </a:xfrm>
          <a:prstGeom prst="line">
            <a:avLst/>
          </a:prstGeom>
          <a:noFill/>
          <a:ln w="9525">
            <a:solidFill>
              <a:srgbClr val="5A6C79"/>
            </a:solidFill>
            <a:prstDash val="solid"/>
          </a:ln>
        </p:spPr>
        <p:txBody>
          <a:bodyPr/>
          <a:lstStyle/>
          <a:p>
            <a:endParaRPr lang="en-US"/>
          </a:p>
        </p:txBody>
      </p:sp>
      <p:sp>
        <p:nvSpPr>
          <p:cNvPr id="18" name="Shape 16"/>
          <p:cNvSpPr/>
          <p:nvPr/>
        </p:nvSpPr>
        <p:spPr>
          <a:xfrm>
            <a:off x="2084832" y="3415792"/>
            <a:ext cx="64008" cy="0"/>
          </a:xfrm>
          <a:prstGeom prst="line">
            <a:avLst/>
          </a:prstGeom>
          <a:noFill/>
          <a:ln w="9525">
            <a:solidFill>
              <a:srgbClr val="5A6C79"/>
            </a:solidFill>
            <a:prstDash val="solid"/>
          </a:ln>
        </p:spPr>
        <p:txBody>
          <a:bodyPr/>
          <a:lstStyle/>
          <a:p>
            <a:endParaRPr lang="en-US"/>
          </a:p>
        </p:txBody>
      </p:sp>
      <p:sp>
        <p:nvSpPr>
          <p:cNvPr id="19" name="Shape 17"/>
          <p:cNvSpPr/>
          <p:nvPr/>
        </p:nvSpPr>
        <p:spPr>
          <a:xfrm>
            <a:off x="2084832" y="3671824"/>
            <a:ext cx="64008" cy="0"/>
          </a:xfrm>
          <a:prstGeom prst="line">
            <a:avLst/>
          </a:prstGeom>
          <a:noFill/>
          <a:ln w="9525">
            <a:solidFill>
              <a:srgbClr val="5A6C79"/>
            </a:solidFill>
            <a:prstDash val="solid"/>
          </a:ln>
        </p:spPr>
        <p:txBody>
          <a:bodyPr/>
          <a:lstStyle/>
          <a:p>
            <a:endParaRPr lang="en-US"/>
          </a:p>
        </p:txBody>
      </p:sp>
      <p:sp>
        <p:nvSpPr>
          <p:cNvPr id="20" name="Shape 18"/>
          <p:cNvSpPr/>
          <p:nvPr/>
        </p:nvSpPr>
        <p:spPr>
          <a:xfrm>
            <a:off x="2084832" y="3927856"/>
            <a:ext cx="64008" cy="0"/>
          </a:xfrm>
          <a:prstGeom prst="line">
            <a:avLst/>
          </a:prstGeom>
          <a:noFill/>
          <a:ln w="9525">
            <a:solidFill>
              <a:srgbClr val="5A6C79"/>
            </a:solidFill>
            <a:prstDash val="solid"/>
          </a:ln>
        </p:spPr>
        <p:txBody>
          <a:bodyPr/>
          <a:lstStyle/>
          <a:p>
            <a:endParaRPr lang="en-US"/>
          </a:p>
        </p:txBody>
      </p:sp>
      <p:sp>
        <p:nvSpPr>
          <p:cNvPr id="21" name="Shape 19"/>
          <p:cNvSpPr/>
          <p:nvPr/>
        </p:nvSpPr>
        <p:spPr>
          <a:xfrm>
            <a:off x="2084832" y="4183888"/>
            <a:ext cx="64008" cy="0"/>
          </a:xfrm>
          <a:prstGeom prst="line">
            <a:avLst/>
          </a:prstGeom>
          <a:noFill/>
          <a:ln w="9525">
            <a:solidFill>
              <a:srgbClr val="5A6C79"/>
            </a:solidFill>
            <a:prstDash val="solid"/>
          </a:ln>
        </p:spPr>
        <p:txBody>
          <a:bodyPr/>
          <a:lstStyle/>
          <a:p>
            <a:endParaRPr lang="en-US"/>
          </a:p>
        </p:txBody>
      </p:sp>
      <p:sp>
        <p:nvSpPr>
          <p:cNvPr id="22" name="Shape 20"/>
          <p:cNvSpPr/>
          <p:nvPr/>
        </p:nvSpPr>
        <p:spPr>
          <a:xfrm>
            <a:off x="1911096" y="3776980"/>
            <a:ext cx="137160" cy="82296"/>
          </a:xfrm>
          <a:prstGeom prst="rect">
            <a:avLst/>
          </a:prstGeom>
          <a:solidFill>
            <a:srgbClr val="C2410C"/>
          </a:solidFill>
          <a:ln w="12700">
            <a:solidFill>
              <a:srgbClr val="C2410C"/>
            </a:solidFill>
            <a:prstDash val="solid"/>
          </a:ln>
        </p:spPr>
        <p:txBody>
          <a:bodyPr/>
          <a:lstStyle/>
          <a:p>
            <a:endParaRPr lang="en-US"/>
          </a:p>
        </p:txBody>
      </p:sp>
      <p:sp>
        <p:nvSpPr>
          <p:cNvPr id="23" name="Shape 21"/>
          <p:cNvSpPr/>
          <p:nvPr/>
        </p:nvSpPr>
        <p:spPr>
          <a:xfrm>
            <a:off x="2267712" y="3776980"/>
            <a:ext cx="137160" cy="82296"/>
          </a:xfrm>
          <a:prstGeom prst="rect">
            <a:avLst/>
          </a:prstGeom>
          <a:solidFill>
            <a:srgbClr val="C2410C"/>
          </a:solidFill>
          <a:ln w="12700">
            <a:solidFill>
              <a:srgbClr val="C2410C"/>
            </a:solidFill>
            <a:prstDash val="solid"/>
          </a:ln>
        </p:spPr>
        <p:txBody>
          <a:bodyPr/>
          <a:lstStyle/>
          <a:p>
            <a:endParaRPr lang="en-US"/>
          </a:p>
        </p:txBody>
      </p:sp>
      <p:sp>
        <p:nvSpPr>
          <p:cNvPr id="24" name="Shape 22"/>
          <p:cNvSpPr/>
          <p:nvPr/>
        </p:nvSpPr>
        <p:spPr>
          <a:xfrm>
            <a:off x="1024128" y="3744976"/>
            <a:ext cx="886968" cy="146304"/>
          </a:xfrm>
          <a:prstGeom prst="rect">
            <a:avLst/>
          </a:prstGeom>
          <a:solidFill>
            <a:srgbClr val="DCE3E9"/>
          </a:solidFill>
          <a:ln w="12700">
            <a:solidFill>
              <a:srgbClr val="162A3A"/>
            </a:solidFill>
            <a:prstDash val="solid"/>
          </a:ln>
        </p:spPr>
        <p:txBody>
          <a:bodyPr/>
          <a:lstStyle/>
          <a:p>
            <a:endParaRPr lang="en-US"/>
          </a:p>
        </p:txBody>
      </p:sp>
      <p:sp>
        <p:nvSpPr>
          <p:cNvPr id="25" name="Shape 23"/>
          <p:cNvSpPr/>
          <p:nvPr/>
        </p:nvSpPr>
        <p:spPr>
          <a:xfrm>
            <a:off x="932688" y="3964432"/>
            <a:ext cx="1024128" cy="182880"/>
          </a:xfrm>
          <a:prstGeom prst="rect">
            <a:avLst/>
          </a:prstGeom>
          <a:solidFill>
            <a:srgbClr val="E7E1D4"/>
          </a:solidFill>
          <a:ln w="12700">
            <a:solidFill>
              <a:srgbClr val="162A3A"/>
            </a:solidFill>
            <a:prstDash val="solid"/>
          </a:ln>
        </p:spPr>
        <p:txBody>
          <a:bodyPr/>
          <a:lstStyle/>
          <a:p>
            <a:endParaRPr lang="en-US"/>
          </a:p>
        </p:txBody>
      </p:sp>
      <p:sp>
        <p:nvSpPr>
          <p:cNvPr id="26" name="Text 24"/>
          <p:cNvSpPr txBox="1"/>
          <p:nvPr/>
        </p:nvSpPr>
        <p:spPr>
          <a:xfrm>
            <a:off x="932688" y="3964432"/>
            <a:ext cx="1024128" cy="182880"/>
          </a:xfrm>
          <a:prstGeom prst="rect">
            <a:avLst/>
          </a:prstGeom>
          <a:noFill/>
          <a:ln/>
        </p:spPr>
        <p:txBody>
          <a:bodyPr wrap="square" lIns="0" tIns="0" rIns="0" bIns="0" rtlCol="0" anchor="ctr"/>
          <a:lstStyle/>
          <a:p>
            <a:pPr marL="0" indent="0" algn="ctr">
              <a:buNone/>
            </a:pPr>
            <a:r>
              <a:rPr lang="en-US" sz="1200" dirty="0">
                <a:solidFill>
                  <a:srgbClr val="5A6C79"/>
                </a:solidFill>
                <a:latin typeface="Calibri" pitchFamily="34" charset="0"/>
                <a:ea typeface="Calibri" pitchFamily="34" charset="-122"/>
                <a:cs typeface="Calibri" pitchFamily="34" charset="-120"/>
              </a:rPr>
              <a:t>table</a:t>
            </a:r>
            <a:endParaRPr lang="en-US" sz="900" dirty="0"/>
          </a:p>
        </p:txBody>
      </p:sp>
      <p:sp>
        <p:nvSpPr>
          <p:cNvPr id="27" name="Shape 25"/>
          <p:cNvSpPr/>
          <p:nvPr/>
        </p:nvSpPr>
        <p:spPr>
          <a:xfrm>
            <a:off x="2496312" y="3104896"/>
            <a:ext cx="0" cy="640080"/>
          </a:xfrm>
          <a:prstGeom prst="line">
            <a:avLst/>
          </a:prstGeom>
          <a:noFill/>
          <a:ln w="15875">
            <a:solidFill>
              <a:srgbClr val="C2410C"/>
            </a:solidFill>
            <a:prstDash val="solid"/>
            <a:headEnd type="triangle"/>
            <a:tailEnd type="triangle"/>
          </a:ln>
        </p:spPr>
        <p:txBody>
          <a:bodyPr/>
          <a:lstStyle/>
          <a:p>
            <a:endParaRPr lang="en-US"/>
          </a:p>
        </p:txBody>
      </p:sp>
      <p:sp>
        <p:nvSpPr>
          <p:cNvPr id="28" name="Text 26"/>
          <p:cNvSpPr txBox="1"/>
          <p:nvPr/>
        </p:nvSpPr>
        <p:spPr>
          <a:xfrm>
            <a:off x="2542032" y="3324352"/>
            <a:ext cx="219456" cy="219456"/>
          </a:xfrm>
          <a:prstGeom prst="rect">
            <a:avLst/>
          </a:prstGeom>
          <a:noFill/>
          <a:ln/>
        </p:spPr>
        <p:txBody>
          <a:bodyPr wrap="square" lIns="0" tIns="0" rIns="0" bIns="0" rtlCol="0" anchor="ctr"/>
          <a:lstStyle/>
          <a:p>
            <a:pPr marL="0" indent="0" algn="l">
              <a:buNone/>
            </a:pPr>
            <a:r>
              <a:rPr lang="en-US" sz="1200" i="1" dirty="0">
                <a:solidFill>
                  <a:srgbClr val="C2410C"/>
                </a:solidFill>
                <a:latin typeface="Calibri" pitchFamily="34" charset="0"/>
                <a:ea typeface="Calibri" pitchFamily="34" charset="-122"/>
                <a:cs typeface="Calibri" pitchFamily="34" charset="-120"/>
              </a:rPr>
              <a:t>d</a:t>
            </a:r>
            <a:endParaRPr lang="en-US" sz="1200" dirty="0"/>
          </a:p>
        </p:txBody>
      </p:sp>
      <p:sp>
        <p:nvSpPr>
          <p:cNvPr id="29" name="Text 27"/>
          <p:cNvSpPr txBox="1"/>
          <p:nvPr/>
        </p:nvSpPr>
        <p:spPr>
          <a:xfrm>
            <a:off x="3593592" y="2515362"/>
            <a:ext cx="1783080" cy="219456"/>
          </a:xfrm>
          <a:prstGeom prst="rect">
            <a:avLst/>
          </a:prstGeom>
          <a:noFill/>
          <a:ln/>
        </p:spPr>
        <p:txBody>
          <a:bodyPr wrap="square" lIns="0" tIns="0" rIns="0" bIns="0" rtlCol="0" anchor="ctr"/>
          <a:lstStyle/>
          <a:p>
            <a:pPr marL="0" indent="0" algn="ctr">
              <a:buNone/>
            </a:pPr>
            <a:r>
              <a:rPr lang="en-US" sz="1400" b="1" dirty="0">
                <a:solidFill>
                  <a:srgbClr val="162A3A"/>
                </a:solidFill>
                <a:latin typeface="Calibri" pitchFamily="34" charset="0"/>
                <a:ea typeface="Calibri" pitchFamily="34" charset="-122"/>
                <a:cs typeface="Calibri" pitchFamily="34" charset="-120"/>
              </a:rPr>
              <a:t>arm free</a:t>
            </a:r>
            <a:endParaRPr lang="en-US" sz="1400" dirty="0"/>
          </a:p>
        </p:txBody>
      </p:sp>
      <p:sp>
        <p:nvSpPr>
          <p:cNvPr id="30" name="Shape 28"/>
          <p:cNvSpPr/>
          <p:nvPr/>
        </p:nvSpPr>
        <p:spPr>
          <a:xfrm>
            <a:off x="4736592" y="2940304"/>
            <a:ext cx="146304" cy="1481328"/>
          </a:xfrm>
          <a:prstGeom prst="rect">
            <a:avLst/>
          </a:prstGeom>
          <a:solidFill>
            <a:srgbClr val="F4F1EC"/>
          </a:solidFill>
          <a:ln w="12700">
            <a:solidFill>
              <a:srgbClr val="162A3A"/>
            </a:solidFill>
            <a:prstDash val="solid"/>
          </a:ln>
        </p:spPr>
        <p:txBody>
          <a:bodyPr/>
          <a:lstStyle/>
          <a:p>
            <a:endParaRPr lang="en-US"/>
          </a:p>
        </p:txBody>
      </p:sp>
      <p:sp>
        <p:nvSpPr>
          <p:cNvPr id="31" name="Shape 29"/>
          <p:cNvSpPr/>
          <p:nvPr/>
        </p:nvSpPr>
        <p:spPr>
          <a:xfrm>
            <a:off x="4681728" y="2903728"/>
            <a:ext cx="256032" cy="118872"/>
          </a:xfrm>
          <a:prstGeom prst="rect">
            <a:avLst/>
          </a:prstGeom>
          <a:solidFill>
            <a:srgbClr val="162A3A"/>
          </a:solidFill>
          <a:ln w="12700">
            <a:solidFill>
              <a:srgbClr val="162A3A"/>
            </a:solidFill>
            <a:prstDash val="solid"/>
          </a:ln>
        </p:spPr>
        <p:txBody>
          <a:bodyPr/>
          <a:lstStyle/>
          <a:p>
            <a:endParaRPr lang="en-US"/>
          </a:p>
        </p:txBody>
      </p:sp>
      <p:sp>
        <p:nvSpPr>
          <p:cNvPr id="32" name="Shape 30"/>
          <p:cNvSpPr/>
          <p:nvPr/>
        </p:nvSpPr>
        <p:spPr>
          <a:xfrm>
            <a:off x="4736592" y="3159760"/>
            <a:ext cx="64008" cy="0"/>
          </a:xfrm>
          <a:prstGeom prst="line">
            <a:avLst/>
          </a:prstGeom>
          <a:noFill/>
          <a:ln w="9525">
            <a:solidFill>
              <a:srgbClr val="5A6C79"/>
            </a:solidFill>
            <a:prstDash val="solid"/>
          </a:ln>
        </p:spPr>
        <p:txBody>
          <a:bodyPr/>
          <a:lstStyle/>
          <a:p>
            <a:endParaRPr lang="en-US"/>
          </a:p>
        </p:txBody>
      </p:sp>
      <p:sp>
        <p:nvSpPr>
          <p:cNvPr id="33" name="Shape 31"/>
          <p:cNvSpPr/>
          <p:nvPr/>
        </p:nvSpPr>
        <p:spPr>
          <a:xfrm>
            <a:off x="4736592" y="3415792"/>
            <a:ext cx="64008" cy="0"/>
          </a:xfrm>
          <a:prstGeom prst="line">
            <a:avLst/>
          </a:prstGeom>
          <a:noFill/>
          <a:ln w="9525">
            <a:solidFill>
              <a:srgbClr val="5A6C79"/>
            </a:solidFill>
            <a:prstDash val="solid"/>
          </a:ln>
        </p:spPr>
        <p:txBody>
          <a:bodyPr/>
          <a:lstStyle/>
          <a:p>
            <a:endParaRPr lang="en-US"/>
          </a:p>
        </p:txBody>
      </p:sp>
      <p:sp>
        <p:nvSpPr>
          <p:cNvPr id="34" name="Shape 32"/>
          <p:cNvSpPr/>
          <p:nvPr/>
        </p:nvSpPr>
        <p:spPr>
          <a:xfrm>
            <a:off x="4736592" y="3671824"/>
            <a:ext cx="64008" cy="0"/>
          </a:xfrm>
          <a:prstGeom prst="line">
            <a:avLst/>
          </a:prstGeom>
          <a:noFill/>
          <a:ln w="9525">
            <a:solidFill>
              <a:srgbClr val="5A6C79"/>
            </a:solidFill>
            <a:prstDash val="solid"/>
          </a:ln>
        </p:spPr>
        <p:txBody>
          <a:bodyPr/>
          <a:lstStyle/>
          <a:p>
            <a:endParaRPr lang="en-US"/>
          </a:p>
        </p:txBody>
      </p:sp>
      <p:sp>
        <p:nvSpPr>
          <p:cNvPr id="35" name="Shape 33"/>
          <p:cNvSpPr/>
          <p:nvPr/>
        </p:nvSpPr>
        <p:spPr>
          <a:xfrm>
            <a:off x="4736592" y="3927856"/>
            <a:ext cx="64008" cy="0"/>
          </a:xfrm>
          <a:prstGeom prst="line">
            <a:avLst/>
          </a:prstGeom>
          <a:noFill/>
          <a:ln w="9525">
            <a:solidFill>
              <a:srgbClr val="5A6C79"/>
            </a:solidFill>
            <a:prstDash val="solid"/>
          </a:ln>
        </p:spPr>
        <p:txBody>
          <a:bodyPr/>
          <a:lstStyle/>
          <a:p>
            <a:endParaRPr lang="en-US"/>
          </a:p>
        </p:txBody>
      </p:sp>
      <p:sp>
        <p:nvSpPr>
          <p:cNvPr id="36" name="Shape 34"/>
          <p:cNvSpPr/>
          <p:nvPr/>
        </p:nvSpPr>
        <p:spPr>
          <a:xfrm>
            <a:off x="4736592" y="4183888"/>
            <a:ext cx="64008" cy="0"/>
          </a:xfrm>
          <a:prstGeom prst="line">
            <a:avLst/>
          </a:prstGeom>
          <a:noFill/>
          <a:ln w="9525">
            <a:solidFill>
              <a:srgbClr val="5A6C79"/>
            </a:solidFill>
            <a:prstDash val="solid"/>
          </a:ln>
        </p:spPr>
        <p:txBody>
          <a:bodyPr/>
          <a:lstStyle/>
          <a:p>
            <a:endParaRPr lang="en-US"/>
          </a:p>
        </p:txBody>
      </p:sp>
      <p:sp>
        <p:nvSpPr>
          <p:cNvPr id="37" name="Shape 35"/>
          <p:cNvSpPr/>
          <p:nvPr/>
        </p:nvSpPr>
        <p:spPr>
          <a:xfrm>
            <a:off x="4562856" y="3776980"/>
            <a:ext cx="137160" cy="82296"/>
          </a:xfrm>
          <a:prstGeom prst="rect">
            <a:avLst/>
          </a:prstGeom>
          <a:solidFill>
            <a:srgbClr val="C2410C"/>
          </a:solidFill>
          <a:ln w="12700">
            <a:solidFill>
              <a:srgbClr val="C2410C"/>
            </a:solidFill>
            <a:prstDash val="solid"/>
          </a:ln>
        </p:spPr>
        <p:txBody>
          <a:bodyPr/>
          <a:lstStyle/>
          <a:p>
            <a:endParaRPr lang="en-US"/>
          </a:p>
        </p:txBody>
      </p:sp>
      <p:sp>
        <p:nvSpPr>
          <p:cNvPr id="38" name="Shape 36"/>
          <p:cNvSpPr/>
          <p:nvPr/>
        </p:nvSpPr>
        <p:spPr>
          <a:xfrm>
            <a:off x="4919472" y="3776980"/>
            <a:ext cx="137160" cy="82296"/>
          </a:xfrm>
          <a:prstGeom prst="rect">
            <a:avLst/>
          </a:prstGeom>
          <a:solidFill>
            <a:srgbClr val="C2410C"/>
          </a:solidFill>
          <a:ln w="12700">
            <a:solidFill>
              <a:srgbClr val="C2410C"/>
            </a:solidFill>
            <a:prstDash val="solid"/>
          </a:ln>
        </p:spPr>
        <p:txBody>
          <a:bodyPr/>
          <a:lstStyle/>
          <a:p>
            <a:endParaRPr lang="en-US"/>
          </a:p>
        </p:txBody>
      </p:sp>
      <p:sp>
        <p:nvSpPr>
          <p:cNvPr id="39" name="Shape 37"/>
          <p:cNvSpPr/>
          <p:nvPr/>
        </p:nvSpPr>
        <p:spPr>
          <a:xfrm>
            <a:off x="3675888" y="3744976"/>
            <a:ext cx="886968" cy="146304"/>
          </a:xfrm>
          <a:prstGeom prst="rect">
            <a:avLst/>
          </a:prstGeom>
          <a:solidFill>
            <a:srgbClr val="DCE3E9"/>
          </a:solidFill>
          <a:ln w="12700">
            <a:solidFill>
              <a:srgbClr val="162A3A"/>
            </a:solidFill>
            <a:prstDash val="solid"/>
          </a:ln>
        </p:spPr>
        <p:txBody>
          <a:bodyPr/>
          <a:lstStyle/>
          <a:p>
            <a:endParaRPr lang="en-US"/>
          </a:p>
        </p:txBody>
      </p:sp>
      <p:sp>
        <p:nvSpPr>
          <p:cNvPr id="40" name="Shape 38"/>
          <p:cNvSpPr/>
          <p:nvPr/>
        </p:nvSpPr>
        <p:spPr>
          <a:xfrm>
            <a:off x="3584448" y="4019296"/>
            <a:ext cx="1005840" cy="0"/>
          </a:xfrm>
          <a:prstGeom prst="line">
            <a:avLst/>
          </a:prstGeom>
          <a:noFill/>
          <a:ln w="15875">
            <a:solidFill>
              <a:srgbClr val="A9B7C2"/>
            </a:solidFill>
            <a:prstDash val="dash"/>
          </a:ln>
        </p:spPr>
        <p:txBody>
          <a:bodyPr/>
          <a:lstStyle/>
          <a:p>
            <a:endParaRPr lang="en-US"/>
          </a:p>
        </p:txBody>
      </p:sp>
      <p:sp>
        <p:nvSpPr>
          <p:cNvPr id="41" name="Text 39"/>
          <p:cNvSpPr txBox="1"/>
          <p:nvPr/>
        </p:nvSpPr>
        <p:spPr>
          <a:xfrm>
            <a:off x="3547872" y="4074160"/>
            <a:ext cx="1097280" cy="182880"/>
          </a:xfrm>
          <a:prstGeom prst="rect">
            <a:avLst/>
          </a:prstGeom>
          <a:noFill/>
          <a:ln/>
        </p:spPr>
        <p:txBody>
          <a:bodyPr wrap="square" lIns="0" tIns="0" rIns="0" bIns="0" rtlCol="0" anchor="ctr"/>
          <a:lstStyle/>
          <a:p>
            <a:pPr marL="0" indent="0" algn="ctr">
              <a:buNone/>
            </a:pPr>
            <a:r>
              <a:rPr lang="en-US" sz="1200" dirty="0">
                <a:solidFill>
                  <a:srgbClr val="A9B7C2"/>
                </a:solidFill>
                <a:latin typeface="Calibri" pitchFamily="34" charset="0"/>
                <a:ea typeface="Calibri" pitchFamily="34" charset="-122"/>
                <a:cs typeface="Calibri" pitchFamily="34" charset="-120"/>
              </a:rPr>
              <a:t>no support</a:t>
            </a:r>
            <a:endParaRPr lang="en-US" sz="1200" dirty="0"/>
          </a:p>
        </p:txBody>
      </p:sp>
      <p:sp>
        <p:nvSpPr>
          <p:cNvPr id="42" name="Shape 40"/>
          <p:cNvSpPr/>
          <p:nvPr/>
        </p:nvSpPr>
        <p:spPr>
          <a:xfrm>
            <a:off x="5148072" y="3104896"/>
            <a:ext cx="0" cy="640080"/>
          </a:xfrm>
          <a:prstGeom prst="line">
            <a:avLst/>
          </a:prstGeom>
          <a:noFill/>
          <a:ln w="15875">
            <a:solidFill>
              <a:srgbClr val="C2410C"/>
            </a:solidFill>
            <a:prstDash val="solid"/>
            <a:headEnd type="triangle"/>
            <a:tailEnd type="triangle"/>
          </a:ln>
        </p:spPr>
        <p:txBody>
          <a:bodyPr/>
          <a:lstStyle/>
          <a:p>
            <a:endParaRPr lang="en-US"/>
          </a:p>
        </p:txBody>
      </p:sp>
      <p:sp>
        <p:nvSpPr>
          <p:cNvPr id="43" name="Text 41"/>
          <p:cNvSpPr txBox="1"/>
          <p:nvPr/>
        </p:nvSpPr>
        <p:spPr>
          <a:xfrm>
            <a:off x="5193792" y="3324352"/>
            <a:ext cx="219456" cy="219456"/>
          </a:xfrm>
          <a:prstGeom prst="rect">
            <a:avLst/>
          </a:prstGeom>
          <a:noFill/>
          <a:ln/>
        </p:spPr>
        <p:txBody>
          <a:bodyPr wrap="square" lIns="0" tIns="0" rIns="0" bIns="0" rtlCol="0" anchor="ctr"/>
          <a:lstStyle/>
          <a:p>
            <a:pPr marL="0" indent="0" algn="l">
              <a:buNone/>
            </a:pPr>
            <a:r>
              <a:rPr lang="en-US" sz="1200" i="1" dirty="0">
                <a:solidFill>
                  <a:srgbClr val="C2410C"/>
                </a:solidFill>
                <a:latin typeface="Calibri" pitchFamily="34" charset="0"/>
                <a:ea typeface="Calibri" pitchFamily="34" charset="-122"/>
                <a:cs typeface="Calibri" pitchFamily="34" charset="-120"/>
              </a:rPr>
              <a:t>d</a:t>
            </a:r>
            <a:endParaRPr lang="en-US" sz="1200" dirty="0"/>
          </a:p>
        </p:txBody>
      </p:sp>
      <p:sp>
        <p:nvSpPr>
          <p:cNvPr id="44" name="Shape 42"/>
          <p:cNvSpPr/>
          <p:nvPr/>
        </p:nvSpPr>
        <p:spPr>
          <a:xfrm>
            <a:off x="3163824" y="2903728"/>
            <a:ext cx="0" cy="1243584"/>
          </a:xfrm>
          <a:prstGeom prst="line">
            <a:avLst/>
          </a:prstGeom>
          <a:noFill/>
          <a:ln w="9525">
            <a:solidFill>
              <a:srgbClr val="A9B7C2"/>
            </a:solidFill>
            <a:prstDash val="dash"/>
          </a:ln>
        </p:spPr>
        <p:txBody>
          <a:bodyPr/>
          <a:lstStyle/>
          <a:p>
            <a:endParaRPr lang="en-US"/>
          </a:p>
        </p:txBody>
      </p:sp>
      <mc:AlternateContent xmlns:mc="http://schemas.openxmlformats.org/markup-compatibility/2006" xmlns:a14="http://schemas.microsoft.com/office/drawing/2010/main">
        <mc:Choice Requires="a14">
          <p:sp>
            <p:nvSpPr>
              <p:cNvPr id="45" name="Text 43"/>
              <p:cNvSpPr txBox="1"/>
              <p:nvPr/>
            </p:nvSpPr>
            <p:spPr>
              <a:xfrm>
                <a:off x="2237232" y="4512818"/>
                <a:ext cx="1645920" cy="256032"/>
              </a:xfrm>
              <a:prstGeom prst="rect">
                <a:avLst/>
              </a:prstGeom>
              <a:noFill/>
              <a:ln/>
            </p:spPr>
            <p:txBody>
              <a:bodyPr wrap="square" lIns="0" tIns="0" rIns="0" bIns="0" rtlCol="0" anchor="ctr"/>
              <a:lstStyle/>
              <a:p>
                <a:pPr marL="0" indent="0" algn="ctr">
                  <a:buNone/>
                </a:pPr>
                <a14:m>
                  <m:oMathPara xmlns:m="http://schemas.openxmlformats.org/officeDocument/2006/math">
                    <m:oMath>
                      <m:r>
                        <a:rPr lang="en-US" sz="1200" b="0" i="1" smtClean="0">
                          <a:solidFill>
                            <a:srgbClr val="162A3A"/>
                          </a:solidFill>
                          <a:latin typeface="Cambria Math" panose="02040503050406030204" pitchFamily="18" charset="0"/>
                          <a:ea typeface="Calibri" pitchFamily="34" charset="-122"/>
                          <a:cs typeface="Calibri" pitchFamily="34" charset="-120"/>
                        </a:rPr>
                        <m:t>𝑡</m:t>
                      </m:r>
                      <m:r>
                        <a:rPr lang="en-US" sz="1200" b="0" i="1" smtClean="0">
                          <a:solidFill>
                            <a:srgbClr val="162A3A"/>
                          </a:solidFill>
                          <a:latin typeface="Cambria Math" panose="02040503050406030204" pitchFamily="18" charset="0"/>
                          <a:ea typeface="Calibri" pitchFamily="34" charset="-122"/>
                          <a:cs typeface="Calibri" pitchFamily="34" charset="-120"/>
                        </a:rPr>
                        <m:t>=</m:t>
                      </m:r>
                      <m:rad>
                        <m:radPr>
                          <m:degHide m:val="on"/>
                          <m:ctrlPr>
                            <a:rPr lang="en-US" sz="1200" b="0" i="1" smtClean="0">
                              <a:solidFill>
                                <a:srgbClr val="162A3A"/>
                              </a:solidFill>
                              <a:latin typeface="Cambria Math" panose="02040503050406030204" pitchFamily="18" charset="0"/>
                              <a:ea typeface="Calibri" pitchFamily="34" charset="-122"/>
                              <a:cs typeface="Calibri" pitchFamily="34" charset="-120"/>
                            </a:rPr>
                          </m:ctrlPr>
                        </m:radPr>
                        <m:deg/>
                        <m:e>
                          <m:f>
                            <m:fPr>
                              <m:ctrlPr>
                                <a:rPr lang="en-US" sz="1200" b="0" i="1" smtClean="0">
                                  <a:solidFill>
                                    <a:srgbClr val="162A3A"/>
                                  </a:solidFill>
                                  <a:latin typeface="Cambria Math" panose="02040503050406030204" pitchFamily="18" charset="0"/>
                                  <a:ea typeface="Calibri" pitchFamily="34" charset="-122"/>
                                  <a:cs typeface="Calibri" pitchFamily="34" charset="-120"/>
                                </a:rPr>
                              </m:ctrlPr>
                            </m:fPr>
                            <m:num>
                              <m:r>
                                <a:rPr lang="en-US" sz="1200" b="0" i="1" smtClean="0">
                                  <a:solidFill>
                                    <a:srgbClr val="162A3A"/>
                                  </a:solidFill>
                                  <a:latin typeface="Cambria Math" panose="02040503050406030204" pitchFamily="18" charset="0"/>
                                  <a:ea typeface="Calibri" pitchFamily="34" charset="-122"/>
                                  <a:cs typeface="Calibri" pitchFamily="34" charset="-120"/>
                                </a:rPr>
                                <m:t>2</m:t>
                              </m:r>
                              <m:r>
                                <a:rPr lang="en-US" sz="1200" b="0" i="1" smtClean="0">
                                  <a:solidFill>
                                    <a:srgbClr val="162A3A"/>
                                  </a:solidFill>
                                  <a:latin typeface="Cambria Math" panose="02040503050406030204" pitchFamily="18" charset="0"/>
                                  <a:ea typeface="Calibri" pitchFamily="34" charset="-122"/>
                                  <a:cs typeface="Calibri" pitchFamily="34" charset="-120"/>
                                </a:rPr>
                                <m:t>𝑑</m:t>
                              </m:r>
                            </m:num>
                            <m:den>
                              <m:r>
                                <a:rPr lang="en-US" sz="1200" b="0" i="1" smtClean="0">
                                  <a:solidFill>
                                    <a:srgbClr val="162A3A"/>
                                  </a:solidFill>
                                  <a:latin typeface="Cambria Math" panose="02040503050406030204" pitchFamily="18" charset="0"/>
                                  <a:ea typeface="Calibri" pitchFamily="34" charset="-122"/>
                                  <a:cs typeface="Calibri" pitchFamily="34" charset="-120"/>
                                </a:rPr>
                                <m:t>𝑔</m:t>
                              </m:r>
                            </m:den>
                          </m:f>
                        </m:e>
                      </m:rad>
                      <m:r>
                        <a:rPr lang="en-US" sz="1200" b="0" i="1" smtClean="0">
                          <a:solidFill>
                            <a:srgbClr val="162A3A"/>
                          </a:solidFill>
                          <a:latin typeface="Cambria Math" panose="02040503050406030204" pitchFamily="18" charset="0"/>
                          <a:ea typeface="Calibri" pitchFamily="34" charset="-122"/>
                          <a:cs typeface="Calibri" pitchFamily="34" charset="-120"/>
                        </a:rPr>
                        <m:t> </m:t>
                      </m:r>
                    </m:oMath>
                  </m:oMathPara>
                </a14:m>
                <a:endParaRPr lang="en-US" sz="1200" dirty="0"/>
              </a:p>
            </p:txBody>
          </p:sp>
        </mc:Choice>
        <mc:Fallback xmlns="">
          <p:sp>
            <p:nvSpPr>
              <p:cNvPr id="45" name="Text 43"/>
              <p:cNvSpPr txBox="1">
                <a:spLocks noRot="1" noChangeAspect="1" noMove="1" noResize="1" noEditPoints="1" noAdjustHandles="1" noChangeArrowheads="1" noChangeShapeType="1" noTextEdit="1"/>
              </p:cNvSpPr>
              <p:nvPr/>
            </p:nvSpPr>
            <p:spPr>
              <a:xfrm>
                <a:off x="2237232" y="4512818"/>
                <a:ext cx="1645920" cy="256032"/>
              </a:xfrm>
              <a:prstGeom prst="rect">
                <a:avLst/>
              </a:prstGeom>
              <a:blipFill>
                <a:blip r:embed="rId3"/>
                <a:stretch>
                  <a:fillRect t="-45238" b="-57143"/>
                </a:stretch>
              </a:blipFill>
              <a:ln/>
            </p:spPr>
            <p:txBody>
              <a:bodyPr/>
              <a:lstStyle/>
              <a:p>
                <a:r>
                  <a:rPr lang="en-US">
                    <a:noFill/>
                  </a:rPr>
                  <a:t> </a:t>
                </a:r>
              </a:p>
            </p:txBody>
          </p:sp>
        </mc:Fallback>
      </mc:AlternateContent>
      <p:sp>
        <p:nvSpPr>
          <p:cNvPr id="46" name="Text 44"/>
          <p:cNvSpPr txBox="1"/>
          <p:nvPr/>
        </p:nvSpPr>
        <p:spPr>
          <a:xfrm>
            <a:off x="658368" y="5102352"/>
            <a:ext cx="5084064" cy="310896"/>
          </a:xfrm>
          <a:prstGeom prst="rect">
            <a:avLst/>
          </a:prstGeom>
          <a:noFill/>
          <a:ln/>
        </p:spPr>
        <p:txBody>
          <a:bodyPr wrap="square" lIns="0" tIns="0" rIns="0" bIns="0" rtlCol="0" anchor="ctr"/>
          <a:lstStyle/>
          <a:p>
            <a:pPr marL="0" indent="0" algn="ctr">
              <a:buNone/>
            </a:pPr>
            <a:r>
              <a:rPr lang="en-US" sz="1200" dirty="0">
                <a:solidFill>
                  <a:srgbClr val="3C5165"/>
                </a:solidFill>
                <a:latin typeface="Calibri" pitchFamily="34" charset="0"/>
                <a:ea typeface="Calibri" pitchFamily="34" charset="-122"/>
                <a:cs typeface="Calibri" pitchFamily="34" charset="-120"/>
              </a:rPr>
              <a:t>Same partner, same grip height. 5 catches per condition, order randomized.</a:t>
            </a:r>
            <a:endParaRPr lang="en-US" sz="1200" dirty="0"/>
          </a:p>
        </p:txBody>
      </p:sp>
      <p:sp>
        <p:nvSpPr>
          <p:cNvPr id="47" name="Shape 45"/>
          <p:cNvSpPr/>
          <p:nvPr/>
        </p:nvSpPr>
        <p:spPr>
          <a:xfrm>
            <a:off x="6248095" y="1835658"/>
            <a:ext cx="5486400" cy="3669030"/>
          </a:xfrm>
          <a:prstGeom prst="roundRect">
            <a:avLst>
              <a:gd name="adj" fmla="val 1453"/>
            </a:avLst>
          </a:prstGeom>
          <a:solidFill>
            <a:srgbClr val="FFFFFF"/>
          </a:solidFill>
          <a:ln w="12700">
            <a:solidFill>
              <a:srgbClr val="A9B7C2"/>
            </a:solidFill>
            <a:prstDash val="solid"/>
          </a:ln>
        </p:spPr>
        <p:txBody>
          <a:bodyPr/>
          <a:lstStyle/>
          <a:p>
            <a:endParaRPr lang="en-US"/>
          </a:p>
        </p:txBody>
      </p:sp>
      <p:sp>
        <p:nvSpPr>
          <p:cNvPr id="48" name="Shape 46"/>
          <p:cNvSpPr/>
          <p:nvPr/>
        </p:nvSpPr>
        <p:spPr>
          <a:xfrm>
            <a:off x="6449263" y="2048256"/>
            <a:ext cx="274320" cy="274320"/>
          </a:xfrm>
          <a:prstGeom prst="ellipse">
            <a:avLst/>
          </a:prstGeom>
          <a:solidFill>
            <a:srgbClr val="C2410C"/>
          </a:solidFill>
          <a:ln w="12700">
            <a:solidFill>
              <a:srgbClr val="C2410C"/>
            </a:solidFill>
            <a:prstDash val="solid"/>
          </a:ln>
        </p:spPr>
        <p:txBody>
          <a:bodyPr/>
          <a:lstStyle/>
          <a:p>
            <a:endParaRPr lang="en-US"/>
          </a:p>
        </p:txBody>
      </p:sp>
      <p:sp>
        <p:nvSpPr>
          <p:cNvPr id="49" name="Text 47"/>
          <p:cNvSpPr txBox="1"/>
          <p:nvPr/>
        </p:nvSpPr>
        <p:spPr>
          <a:xfrm>
            <a:off x="6449263" y="2052828"/>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50" name="Text 48"/>
          <p:cNvSpPr txBox="1"/>
          <p:nvPr/>
        </p:nvSpPr>
        <p:spPr>
          <a:xfrm>
            <a:off x="6833311" y="2029968"/>
            <a:ext cx="4700016" cy="310896"/>
          </a:xfrm>
          <a:prstGeom prst="rect">
            <a:avLst/>
          </a:prstGeom>
          <a:noFill/>
          <a:ln/>
        </p:spPr>
        <p:txBody>
          <a:bodyPr wrap="square" lIns="0" tIns="0" rIns="0" bIns="0" rtlCol="0" anchor="ctr"/>
          <a:lstStyle/>
          <a:p>
            <a:pPr marL="0" indent="0">
              <a:buNone/>
            </a:pPr>
            <a:r>
              <a:rPr lang="en-US" sz="1400" b="1" kern="0" spc="110" dirty="0">
                <a:solidFill>
                  <a:srgbClr val="162A3A"/>
                </a:solidFill>
                <a:latin typeface="Calibri" pitchFamily="34" charset="0"/>
                <a:ea typeface="Calibri" pitchFamily="34" charset="-122"/>
                <a:cs typeface="Calibri" pitchFamily="34" charset="-120"/>
              </a:rPr>
              <a:t>RESULT</a:t>
            </a:r>
            <a:endParaRPr lang="en-US" sz="1400" dirty="0"/>
          </a:p>
        </p:txBody>
      </p:sp>
      <p:graphicFrame>
        <p:nvGraphicFramePr>
          <p:cNvPr id="51" name="Chart 0"/>
          <p:cNvGraphicFramePr/>
          <p:nvPr>
            <p:extLst>
              <p:ext uri="{D42A27DB-BD31-4B8C-83A1-F6EECF244321}">
                <p14:modId xmlns:p14="http://schemas.microsoft.com/office/powerpoint/2010/main" val="259797739"/>
              </p:ext>
            </p:extLst>
          </p:nvPr>
        </p:nvGraphicFramePr>
        <p:xfrm>
          <a:off x="6430975" y="2619756"/>
          <a:ext cx="5120640" cy="2446020"/>
        </p:xfrm>
        <a:graphic>
          <a:graphicData uri="http://schemas.openxmlformats.org/drawingml/2006/chart">
            <c:chart xmlns:c="http://schemas.openxmlformats.org/drawingml/2006/chart" xmlns:r="http://schemas.openxmlformats.org/officeDocument/2006/relationships" r:id="rId4"/>
          </a:graphicData>
        </a:graphic>
      </p:graphicFrame>
      <p:sp>
        <p:nvSpPr>
          <p:cNvPr id="52" name="Text 49"/>
          <p:cNvSpPr txBox="1"/>
          <p:nvPr/>
        </p:nvSpPr>
        <p:spPr>
          <a:xfrm>
            <a:off x="6449263" y="5102352"/>
            <a:ext cx="5084064" cy="310896"/>
          </a:xfrm>
          <a:prstGeom prst="rect">
            <a:avLst/>
          </a:prstGeom>
          <a:noFill/>
          <a:ln/>
        </p:spPr>
        <p:txBody>
          <a:bodyPr wrap="square" lIns="0" tIns="0" rIns="0" bIns="0" rtlCol="0" anchor="ctr"/>
          <a:lstStyle/>
          <a:p>
            <a:pPr marL="0" indent="0" algn="ctr">
              <a:buNone/>
            </a:pPr>
            <a:r>
              <a:rPr lang="en-US" sz="1050" dirty="0">
                <a:solidFill>
                  <a:srgbClr val="3C5165"/>
                </a:solidFill>
                <a:latin typeface="Calibri" pitchFamily="34" charset="0"/>
                <a:ea typeface="Calibri" pitchFamily="34" charset="-122"/>
                <a:cs typeface="Calibri" pitchFamily="34" charset="-120"/>
              </a:rPr>
              <a:t>Points: mean ± propagated SEM, random only.</a:t>
            </a:r>
            <a:endParaRPr lang="en-US" sz="1050" dirty="0"/>
          </a:p>
        </p:txBody>
      </p:sp>
      <p:sp>
        <p:nvSpPr>
          <p:cNvPr id="53" name="Shape 50"/>
          <p:cNvSpPr/>
          <p:nvPr/>
        </p:nvSpPr>
        <p:spPr>
          <a:xfrm>
            <a:off x="457200" y="5687568"/>
            <a:ext cx="11277295" cy="973328"/>
          </a:xfrm>
          <a:prstGeom prst="roundRect">
            <a:avLst>
              <a:gd name="adj" fmla="val 7143"/>
            </a:avLst>
          </a:prstGeom>
          <a:solidFill>
            <a:srgbClr val="EDF1F4"/>
          </a:solidFill>
          <a:ln w="12700">
            <a:solidFill>
              <a:srgbClr val="EDF1F4"/>
            </a:solidFill>
            <a:prstDash val="solid"/>
          </a:ln>
        </p:spPr>
        <p:txBody>
          <a:bodyPr/>
          <a:lstStyle/>
          <a:p>
            <a:endParaRPr lang="en-US"/>
          </a:p>
        </p:txBody>
      </p:sp>
      <p:sp>
        <p:nvSpPr>
          <p:cNvPr id="54" name="Shape 51"/>
          <p:cNvSpPr/>
          <p:nvPr/>
        </p:nvSpPr>
        <p:spPr>
          <a:xfrm>
            <a:off x="640080" y="5815584"/>
            <a:ext cx="274320" cy="274320"/>
          </a:xfrm>
          <a:prstGeom prst="ellipse">
            <a:avLst/>
          </a:prstGeom>
          <a:solidFill>
            <a:srgbClr val="C2410C"/>
          </a:solidFill>
          <a:ln w="12700">
            <a:solidFill>
              <a:srgbClr val="C2410C"/>
            </a:solidFill>
            <a:prstDash val="solid"/>
          </a:ln>
        </p:spPr>
        <p:txBody>
          <a:bodyPr/>
          <a:lstStyle/>
          <a:p>
            <a:endParaRPr lang="en-US"/>
          </a:p>
        </p:txBody>
      </p:sp>
      <p:sp>
        <p:nvSpPr>
          <p:cNvPr id="55" name="Text 52"/>
          <p:cNvSpPr txBox="1"/>
          <p:nvPr/>
        </p:nvSpPr>
        <p:spPr>
          <a:xfrm>
            <a:off x="640080" y="5820156"/>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56" name="Text 53"/>
          <p:cNvSpPr txBox="1"/>
          <p:nvPr/>
        </p:nvSpPr>
        <p:spPr>
          <a:xfrm>
            <a:off x="1024128" y="5797296"/>
            <a:ext cx="2926080" cy="310896"/>
          </a:xfrm>
          <a:prstGeom prst="rect">
            <a:avLst/>
          </a:prstGeom>
          <a:noFill/>
          <a:ln/>
        </p:spPr>
        <p:txBody>
          <a:bodyPr wrap="square" lIns="0" tIns="0" rIns="0" bIns="0" rtlCol="0" anchor="ctr"/>
          <a:lstStyle/>
          <a:p>
            <a:pPr marL="0" indent="0">
              <a:buNone/>
            </a:pPr>
            <a:r>
              <a:rPr lang="en-US" sz="1250" b="1" kern="0" spc="110" dirty="0">
                <a:solidFill>
                  <a:srgbClr val="162A3A"/>
                </a:solidFill>
                <a:latin typeface="Calibri" pitchFamily="34" charset="0"/>
                <a:ea typeface="Calibri" pitchFamily="34" charset="-122"/>
                <a:cs typeface="Calibri" pitchFamily="34" charset="-120"/>
              </a:rPr>
              <a:t>TAKEAWAY  →  NEXT STEP</a:t>
            </a:r>
            <a:endParaRPr lang="en-US" sz="1250" dirty="0"/>
          </a:p>
        </p:txBody>
      </p:sp>
      <p:sp>
        <p:nvSpPr>
          <p:cNvPr id="57" name="Text 54"/>
          <p:cNvSpPr txBox="1"/>
          <p:nvPr/>
        </p:nvSpPr>
        <p:spPr>
          <a:xfrm>
            <a:off x="658368" y="6131467"/>
            <a:ext cx="10874959" cy="497839"/>
          </a:xfrm>
          <a:prstGeom prst="rect">
            <a:avLst/>
          </a:prstGeom>
          <a:noFill/>
          <a:ln/>
        </p:spPr>
        <p:txBody>
          <a:bodyPr wrap="square" lIns="0" tIns="0" rIns="0" bIns="0" rtlCol="0" anchor="t"/>
          <a:lstStyle/>
          <a:p>
            <a:pPr marL="0" indent="0">
              <a:buNone/>
            </a:pPr>
            <a:r>
              <a:rPr lang="en-US" sz="1400" dirty="0">
                <a:solidFill>
                  <a:srgbClr val="3C5165"/>
                </a:solidFill>
                <a:latin typeface="Calibri" pitchFamily="34" charset="0"/>
                <a:ea typeface="Calibri" pitchFamily="34" charset="-122"/>
                <a:cs typeface="Calibri" pitchFamily="34" charset="-120"/>
              </a:rPr>
              <a:t>Unsupported arm causes a systematic shift and increases variation between trials. </a:t>
            </a:r>
            <a:br>
              <a:rPr lang="en-US" sz="1400" dirty="0">
                <a:solidFill>
                  <a:srgbClr val="3C5165"/>
                </a:solidFill>
                <a:latin typeface="Calibri" pitchFamily="34" charset="0"/>
                <a:ea typeface="Calibri" pitchFamily="34" charset="-122"/>
                <a:cs typeface="Calibri" pitchFamily="34" charset="-120"/>
              </a:rPr>
            </a:br>
            <a:r>
              <a:rPr lang="en-US" sz="1400" dirty="0">
                <a:solidFill>
                  <a:srgbClr val="3C5165"/>
                </a:solidFill>
                <a:latin typeface="Calibri" pitchFamily="34" charset="0"/>
                <a:ea typeface="Calibri" pitchFamily="34" charset="-122"/>
                <a:cs typeface="Calibri" pitchFamily="34" charset="-120"/>
              </a:rPr>
              <a:t>Next step: hold posture fixed and swap who drops the stick. Limitations: one subject, one partner, and anticipation is uncontrolled.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19456"/>
            <a:ext cx="6766560" cy="237744"/>
          </a:xfrm>
          <a:prstGeom prst="rect">
            <a:avLst/>
          </a:prstGeom>
          <a:noFill/>
          <a:ln/>
        </p:spPr>
        <p:txBody>
          <a:bodyPr wrap="square" lIns="0" tIns="0" rIns="0" bIns="0" rtlCol="0" anchor="ctr"/>
          <a:lstStyle/>
          <a:p>
            <a:pPr marL="0" indent="0">
              <a:buNone/>
            </a:pPr>
            <a:r>
              <a:rPr lang="en-US" sz="1100" b="1" kern="0" spc="80" dirty="0">
                <a:solidFill>
                  <a:srgbClr val="C2410C"/>
                </a:solidFill>
                <a:latin typeface="Calibri" pitchFamily="34" charset="0"/>
                <a:ea typeface="Calibri" pitchFamily="34" charset="-122"/>
                <a:cs typeface="Calibri" pitchFamily="34" charset="-120"/>
              </a:rPr>
              <a:t>EXAMPLE 2</a:t>
            </a:r>
            <a:endParaRPr lang="en-US" sz="1100" dirty="0"/>
          </a:p>
        </p:txBody>
      </p:sp>
      <p:sp>
        <p:nvSpPr>
          <p:cNvPr id="3" name="Text 1"/>
          <p:cNvSpPr txBox="1"/>
          <p:nvPr/>
        </p:nvSpPr>
        <p:spPr>
          <a:xfrm>
            <a:off x="5486400" y="219456"/>
            <a:ext cx="6248095" cy="237744"/>
          </a:xfrm>
          <a:prstGeom prst="rect">
            <a:avLst/>
          </a:prstGeom>
          <a:noFill/>
          <a:ln/>
        </p:spPr>
        <p:txBody>
          <a:bodyPr wrap="square" lIns="0" tIns="0" rIns="0" bIns="0" rtlCol="0" anchor="ctr"/>
          <a:lstStyle/>
          <a:p>
            <a:pPr marL="0" indent="0" algn="r">
              <a:buNone/>
            </a:pPr>
            <a:r>
              <a:rPr lang="en-US" sz="1100" dirty="0">
                <a:solidFill>
                  <a:srgbClr val="5A6C79"/>
                </a:solidFill>
                <a:latin typeface="Calibri" pitchFamily="34" charset="0"/>
                <a:ea typeface="Calibri" pitchFamily="34" charset="-122"/>
                <a:cs typeface="Calibri" pitchFamily="34" charset="-120"/>
              </a:rPr>
              <a:t>M. Ilton ·  Module 0: Table Measurement</a:t>
            </a:r>
            <a:endParaRPr lang="en-US" sz="1100" dirty="0"/>
          </a:p>
        </p:txBody>
      </p:sp>
      <mc:AlternateContent xmlns:mc="http://schemas.openxmlformats.org/markup-compatibility/2006" xmlns:a14="http://schemas.microsoft.com/office/drawing/2010/main">
        <mc:Choice Requires="a14">
          <p:sp>
            <p:nvSpPr>
              <p:cNvPr id="4" name="Text 2"/>
              <p:cNvSpPr txBox="1"/>
              <p:nvPr/>
            </p:nvSpPr>
            <p:spPr>
              <a:xfrm>
                <a:off x="457200" y="475488"/>
                <a:ext cx="11277295" cy="768096"/>
              </a:xfrm>
              <a:prstGeom prst="rect">
                <a:avLst/>
              </a:prstGeom>
              <a:noFill/>
              <a:ln/>
            </p:spPr>
            <p:txBody>
              <a:bodyPr wrap="square" lIns="0" tIns="0" rIns="0" bIns="0" rtlCol="0" anchor="t"/>
              <a:lstStyle/>
              <a:p>
                <a:pPr marL="0" indent="0">
                  <a:buNone/>
                </a:pPr>
                <a:r>
                  <a:rPr lang="en-US" sz="2400" b="1" dirty="0">
                    <a:solidFill>
                      <a:srgbClr val="162A3A"/>
                    </a:solidFill>
                    <a:latin typeface="Cambria" pitchFamily="34" charset="0"/>
                    <a:ea typeface="Cambria" pitchFamily="34" charset="-122"/>
                    <a:cs typeface="Cambria" pitchFamily="34" charset="-120"/>
                  </a:rPr>
                  <a:t>Measured width varies 6.8 </a:t>
                </a:r>
                <a14:m>
                  <m:oMath xmlns:m="http://schemas.openxmlformats.org/officeDocument/2006/math">
                    <m:r>
                      <a:rPr lang="en-US" sz="2400" b="1" i="1" smtClean="0">
                        <a:solidFill>
                          <a:srgbClr val="162A3A"/>
                        </a:solidFill>
                        <a:latin typeface="Cambria Math" panose="02040503050406030204" pitchFamily="18" charset="0"/>
                        <a:ea typeface="Cambria" pitchFamily="34" charset="-122"/>
                        <a:cs typeface="Cambria" pitchFamily="34" charset="-120"/>
                      </a:rPr>
                      <m:t>±</m:t>
                    </m:r>
                  </m:oMath>
                </a14:m>
                <a:r>
                  <a:rPr lang="en-US" sz="2400" b="1" dirty="0">
                    <a:solidFill>
                      <a:srgbClr val="162A3A"/>
                    </a:solidFill>
                    <a:latin typeface="Cambria" pitchFamily="34" charset="0"/>
                    <a:ea typeface="Cambria" pitchFamily="34" charset="-122"/>
                    <a:cs typeface="Cambria" pitchFamily="34" charset="-120"/>
                  </a:rPr>
                  <a:t> 2.0 mm along the table</a:t>
                </a:r>
                <a:endParaRPr lang="en-US" sz="2400" dirty="0"/>
              </a:p>
            </p:txBody>
          </p:sp>
        </mc:Choice>
        <mc:Fallback xmlns="">
          <p:sp>
            <p:nvSpPr>
              <p:cNvPr id="4" name="Text 2"/>
              <p:cNvSpPr txBox="1">
                <a:spLocks noRot="1" noChangeAspect="1" noMove="1" noResize="1" noEditPoints="1" noAdjustHandles="1" noChangeArrowheads="1" noChangeShapeType="1" noTextEdit="1"/>
              </p:cNvSpPr>
              <p:nvPr/>
            </p:nvSpPr>
            <p:spPr>
              <a:xfrm>
                <a:off x="457200" y="475488"/>
                <a:ext cx="11277295" cy="768096"/>
              </a:xfrm>
              <a:prstGeom prst="rect">
                <a:avLst/>
              </a:prstGeom>
              <a:blipFill>
                <a:blip r:embed="rId3"/>
                <a:stretch>
                  <a:fillRect l="-1622" t="-13492"/>
                </a:stretch>
              </a:blipFill>
              <a:ln/>
            </p:spPr>
            <p:txBody>
              <a:bodyPr/>
              <a:lstStyle/>
              <a:p>
                <a:r>
                  <a:rPr lang="en-US">
                    <a:noFill/>
                  </a:rPr>
                  <a:t> </a:t>
                </a:r>
              </a:p>
            </p:txBody>
          </p:sp>
        </mc:Fallback>
      </mc:AlternateContent>
      <p:sp>
        <p:nvSpPr>
          <p:cNvPr id="5" name="Shape 3"/>
          <p:cNvSpPr/>
          <p:nvPr/>
        </p:nvSpPr>
        <p:spPr>
          <a:xfrm>
            <a:off x="457200" y="962152"/>
            <a:ext cx="11277295" cy="603504"/>
          </a:xfrm>
          <a:prstGeom prst="roundRect">
            <a:avLst>
              <a:gd name="adj" fmla="val 9091"/>
            </a:avLst>
          </a:prstGeom>
          <a:solidFill>
            <a:srgbClr val="EDF1F4"/>
          </a:solidFill>
          <a:ln w="12700">
            <a:solidFill>
              <a:srgbClr val="EDF1F4"/>
            </a:solidFill>
            <a:prstDash val="solid"/>
          </a:ln>
        </p:spPr>
        <p:txBody>
          <a:bodyPr/>
          <a:lstStyle/>
          <a:p>
            <a:endParaRPr lang="en-US"/>
          </a:p>
        </p:txBody>
      </p:sp>
      <p:sp>
        <p:nvSpPr>
          <p:cNvPr id="6" name="Shape 4"/>
          <p:cNvSpPr/>
          <p:nvPr/>
        </p:nvSpPr>
        <p:spPr>
          <a:xfrm>
            <a:off x="640080" y="1126744"/>
            <a:ext cx="274320" cy="274320"/>
          </a:xfrm>
          <a:prstGeom prst="ellipse">
            <a:avLst/>
          </a:prstGeom>
          <a:solidFill>
            <a:srgbClr val="C2410C"/>
          </a:solidFill>
          <a:ln w="12700">
            <a:solidFill>
              <a:srgbClr val="C2410C"/>
            </a:solidFill>
            <a:prstDash val="solid"/>
          </a:ln>
        </p:spPr>
        <p:txBody>
          <a:bodyPr/>
          <a:lstStyle/>
          <a:p>
            <a:endParaRPr lang="en-US"/>
          </a:p>
        </p:txBody>
      </p:sp>
      <p:sp>
        <p:nvSpPr>
          <p:cNvPr id="7" name="Text 5"/>
          <p:cNvSpPr txBox="1"/>
          <p:nvPr/>
        </p:nvSpPr>
        <p:spPr>
          <a:xfrm>
            <a:off x="640080" y="1131316"/>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024128" y="1108456"/>
            <a:ext cx="1371600" cy="310896"/>
          </a:xfrm>
          <a:prstGeom prst="rect">
            <a:avLst/>
          </a:prstGeom>
          <a:noFill/>
          <a:ln/>
        </p:spPr>
        <p:txBody>
          <a:bodyPr wrap="square" lIns="0" tIns="0" rIns="0" bIns="0" rtlCol="0" anchor="ctr"/>
          <a:lstStyle/>
          <a:p>
            <a:pPr marL="0" indent="0">
              <a:buNone/>
            </a:pPr>
            <a:r>
              <a:rPr lang="en-US" sz="1400" b="1" kern="0" spc="110" dirty="0">
                <a:solidFill>
                  <a:srgbClr val="162A3A"/>
                </a:solidFill>
                <a:latin typeface="Calibri" pitchFamily="34" charset="0"/>
                <a:ea typeface="Calibri" pitchFamily="34" charset="-122"/>
                <a:cs typeface="Calibri" pitchFamily="34" charset="-120"/>
              </a:rPr>
              <a:t>QUESTION</a:t>
            </a:r>
            <a:endParaRPr lang="en-US" sz="1400" dirty="0"/>
          </a:p>
        </p:txBody>
      </p:sp>
      <p:sp>
        <p:nvSpPr>
          <p:cNvPr id="9" name="Text 7"/>
          <p:cNvSpPr txBox="1"/>
          <p:nvPr/>
        </p:nvSpPr>
        <p:spPr>
          <a:xfrm>
            <a:off x="2468880" y="1108456"/>
            <a:ext cx="8899855" cy="310896"/>
          </a:xfrm>
          <a:prstGeom prst="rect">
            <a:avLst/>
          </a:prstGeom>
          <a:noFill/>
          <a:ln/>
        </p:spPr>
        <p:txBody>
          <a:bodyPr wrap="square" lIns="0" tIns="0" rIns="0" bIns="0" rtlCol="0" anchor="ctr"/>
          <a:lstStyle/>
          <a:p>
            <a:pPr marL="0" indent="0">
              <a:buNone/>
            </a:pPr>
            <a:r>
              <a:rPr lang="en-US" sz="1600" dirty="0">
                <a:solidFill>
                  <a:srgbClr val="3C5165"/>
                </a:solidFill>
                <a:latin typeface="Calibri" pitchFamily="34" charset="0"/>
                <a:ea typeface="Calibri" pitchFamily="34" charset="-122"/>
                <a:cs typeface="Calibri" pitchFamily="34" charset="-120"/>
              </a:rPr>
              <a:t>Is the table we are measuring rectangular? </a:t>
            </a:r>
            <a:endParaRPr lang="en-US" sz="1600" dirty="0"/>
          </a:p>
        </p:txBody>
      </p:sp>
      <p:sp>
        <p:nvSpPr>
          <p:cNvPr id="10" name="Shape 8"/>
          <p:cNvSpPr/>
          <p:nvPr/>
        </p:nvSpPr>
        <p:spPr>
          <a:xfrm>
            <a:off x="457200" y="1821688"/>
            <a:ext cx="5486400" cy="3683000"/>
          </a:xfrm>
          <a:prstGeom prst="roundRect">
            <a:avLst>
              <a:gd name="adj" fmla="val 1453"/>
            </a:avLst>
          </a:prstGeom>
          <a:solidFill>
            <a:srgbClr val="FFFFFF"/>
          </a:solidFill>
          <a:ln w="12700">
            <a:solidFill>
              <a:srgbClr val="A9B7C2"/>
            </a:solidFill>
            <a:prstDash val="solid"/>
          </a:ln>
        </p:spPr>
        <p:txBody>
          <a:bodyPr/>
          <a:lstStyle/>
          <a:p>
            <a:endParaRPr lang="en-US" dirty="0"/>
          </a:p>
        </p:txBody>
      </p:sp>
      <p:sp>
        <p:nvSpPr>
          <p:cNvPr id="11" name="Shape 9"/>
          <p:cNvSpPr/>
          <p:nvPr/>
        </p:nvSpPr>
        <p:spPr>
          <a:xfrm>
            <a:off x="658368" y="1967992"/>
            <a:ext cx="274320" cy="274320"/>
          </a:xfrm>
          <a:prstGeom prst="ellipse">
            <a:avLst/>
          </a:prstGeom>
          <a:solidFill>
            <a:srgbClr val="C2410C"/>
          </a:solidFill>
          <a:ln w="12700">
            <a:solidFill>
              <a:srgbClr val="C2410C"/>
            </a:solidFill>
            <a:prstDash val="solid"/>
          </a:ln>
        </p:spPr>
        <p:txBody>
          <a:bodyPr/>
          <a:lstStyle/>
          <a:p>
            <a:endParaRPr lang="en-US"/>
          </a:p>
        </p:txBody>
      </p:sp>
      <p:sp>
        <p:nvSpPr>
          <p:cNvPr id="12" name="Text 10"/>
          <p:cNvSpPr txBox="1"/>
          <p:nvPr/>
        </p:nvSpPr>
        <p:spPr>
          <a:xfrm>
            <a:off x="658368" y="1972564"/>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042416" y="1949704"/>
            <a:ext cx="4700016" cy="310896"/>
          </a:xfrm>
          <a:prstGeom prst="rect">
            <a:avLst/>
          </a:prstGeom>
          <a:noFill/>
          <a:ln/>
        </p:spPr>
        <p:txBody>
          <a:bodyPr wrap="square" lIns="0" tIns="0" rIns="0" bIns="0" rtlCol="0" anchor="ctr"/>
          <a:lstStyle/>
          <a:p>
            <a:pPr marL="0" indent="0">
              <a:buNone/>
            </a:pPr>
            <a:r>
              <a:rPr lang="en-US" sz="1400" b="1" kern="0" spc="110" dirty="0">
                <a:solidFill>
                  <a:srgbClr val="162A3A"/>
                </a:solidFill>
                <a:latin typeface="Calibri" pitchFamily="34" charset="0"/>
                <a:ea typeface="Calibri" pitchFamily="34" charset="-122"/>
                <a:cs typeface="Calibri" pitchFamily="34" charset="-120"/>
              </a:rPr>
              <a:t>APPROACH</a:t>
            </a:r>
            <a:endParaRPr lang="en-US" sz="1400" dirty="0"/>
          </a:p>
        </p:txBody>
      </p:sp>
      <p:sp>
        <p:nvSpPr>
          <p:cNvPr id="14" name="Shape 12"/>
          <p:cNvSpPr/>
          <p:nvPr/>
        </p:nvSpPr>
        <p:spPr>
          <a:xfrm>
            <a:off x="1325880" y="2926080"/>
            <a:ext cx="4160520" cy="1188720"/>
          </a:xfrm>
          <a:prstGeom prst="rect">
            <a:avLst/>
          </a:prstGeom>
          <a:solidFill>
            <a:srgbClr val="F4F1EC"/>
          </a:solidFill>
          <a:ln w="15875">
            <a:solidFill>
              <a:srgbClr val="162A3A"/>
            </a:solidFill>
            <a:prstDash val="solid"/>
          </a:ln>
        </p:spPr>
        <p:txBody>
          <a:bodyPr/>
          <a:lstStyle/>
          <a:p>
            <a:endParaRPr lang="en-US"/>
          </a:p>
        </p:txBody>
      </p:sp>
      <p:sp>
        <p:nvSpPr>
          <p:cNvPr id="15" name="Shape 13"/>
          <p:cNvSpPr/>
          <p:nvPr/>
        </p:nvSpPr>
        <p:spPr>
          <a:xfrm>
            <a:off x="1207008" y="2926080"/>
            <a:ext cx="0" cy="1188720"/>
          </a:xfrm>
          <a:prstGeom prst="line">
            <a:avLst/>
          </a:prstGeom>
          <a:noFill/>
          <a:ln w="12700">
            <a:solidFill>
              <a:srgbClr val="5A6C79"/>
            </a:solidFill>
            <a:prstDash val="solid"/>
            <a:headEnd type="triangle"/>
            <a:tailEnd type="triangle"/>
          </a:ln>
        </p:spPr>
        <p:txBody>
          <a:bodyPr/>
          <a:lstStyle/>
          <a:p>
            <a:endParaRPr lang="en-US"/>
          </a:p>
        </p:txBody>
      </p:sp>
      <p:sp>
        <p:nvSpPr>
          <p:cNvPr id="16" name="Text 14"/>
          <p:cNvSpPr txBox="1"/>
          <p:nvPr/>
        </p:nvSpPr>
        <p:spPr>
          <a:xfrm>
            <a:off x="566928" y="3401568"/>
            <a:ext cx="566928" cy="219456"/>
          </a:xfrm>
          <a:prstGeom prst="rect">
            <a:avLst/>
          </a:prstGeom>
          <a:noFill/>
          <a:ln/>
        </p:spPr>
        <p:txBody>
          <a:bodyPr wrap="square" lIns="0" tIns="0" rIns="0" bIns="0" rtlCol="0" anchor="ctr"/>
          <a:lstStyle/>
          <a:p>
            <a:pPr marL="0" indent="0" algn="r">
              <a:buNone/>
            </a:pPr>
            <a:r>
              <a:rPr lang="en-US" sz="1600" dirty="0">
                <a:solidFill>
                  <a:srgbClr val="5A6C79"/>
                </a:solidFill>
                <a:latin typeface="Calibri" pitchFamily="34" charset="0"/>
                <a:ea typeface="Calibri" pitchFamily="34" charset="-122"/>
                <a:cs typeface="Calibri" pitchFamily="34" charset="-120"/>
              </a:rPr>
              <a:t>Width</a:t>
            </a:r>
            <a:endParaRPr lang="en-US" sz="1200" dirty="0"/>
          </a:p>
        </p:txBody>
      </p:sp>
      <p:sp>
        <p:nvSpPr>
          <p:cNvPr id="17" name="Shape 15"/>
          <p:cNvSpPr/>
          <p:nvPr/>
        </p:nvSpPr>
        <p:spPr>
          <a:xfrm>
            <a:off x="1741932" y="2999232"/>
            <a:ext cx="0" cy="1042416"/>
          </a:xfrm>
          <a:prstGeom prst="line">
            <a:avLst/>
          </a:prstGeom>
          <a:noFill/>
          <a:ln w="17780">
            <a:solidFill>
              <a:srgbClr val="C2410C"/>
            </a:solidFill>
            <a:prstDash val="solid"/>
            <a:headEnd type="triangle"/>
            <a:tailEnd type="triangle"/>
          </a:ln>
        </p:spPr>
        <p:txBody>
          <a:bodyPr/>
          <a:lstStyle/>
          <a:p>
            <a:endParaRPr lang="en-US"/>
          </a:p>
        </p:txBody>
      </p:sp>
      <p:sp>
        <p:nvSpPr>
          <p:cNvPr id="18" name="Text 16"/>
          <p:cNvSpPr txBox="1"/>
          <p:nvPr/>
        </p:nvSpPr>
        <p:spPr>
          <a:xfrm>
            <a:off x="1467612" y="4169664"/>
            <a:ext cx="548640" cy="219456"/>
          </a:xfrm>
          <a:prstGeom prst="rect">
            <a:avLst/>
          </a:prstGeom>
          <a:noFill/>
          <a:ln/>
        </p:spPr>
        <p:txBody>
          <a:bodyPr wrap="square" lIns="0" tIns="0" rIns="0" bIns="0" rtlCol="0" anchor="ctr"/>
          <a:lstStyle/>
          <a:p>
            <a:pPr marL="0" indent="0" algn="ctr">
              <a:buNone/>
            </a:pPr>
            <a:r>
              <a:rPr lang="en-US" sz="1200" dirty="0">
                <a:solidFill>
                  <a:srgbClr val="5A6C79"/>
                </a:solidFill>
                <a:latin typeface="Calibri" pitchFamily="34" charset="0"/>
                <a:ea typeface="Calibri" pitchFamily="34" charset="-122"/>
                <a:cs typeface="Calibri" pitchFamily="34" charset="-120"/>
              </a:rPr>
              <a:t>20</a:t>
            </a:r>
            <a:endParaRPr lang="en-US" sz="1200" dirty="0"/>
          </a:p>
        </p:txBody>
      </p:sp>
      <p:sp>
        <p:nvSpPr>
          <p:cNvPr id="19" name="Shape 17"/>
          <p:cNvSpPr/>
          <p:nvPr/>
        </p:nvSpPr>
        <p:spPr>
          <a:xfrm>
            <a:off x="2574036" y="2999232"/>
            <a:ext cx="0" cy="1042416"/>
          </a:xfrm>
          <a:prstGeom prst="line">
            <a:avLst/>
          </a:prstGeom>
          <a:noFill/>
          <a:ln w="17780">
            <a:solidFill>
              <a:srgbClr val="C2410C"/>
            </a:solidFill>
            <a:prstDash val="solid"/>
            <a:headEnd type="triangle"/>
            <a:tailEnd type="triangle"/>
          </a:ln>
        </p:spPr>
        <p:txBody>
          <a:bodyPr/>
          <a:lstStyle/>
          <a:p>
            <a:endParaRPr lang="en-US"/>
          </a:p>
        </p:txBody>
      </p:sp>
      <p:sp>
        <p:nvSpPr>
          <p:cNvPr id="20" name="Text 18"/>
          <p:cNvSpPr txBox="1"/>
          <p:nvPr/>
        </p:nvSpPr>
        <p:spPr>
          <a:xfrm>
            <a:off x="2299716" y="4169664"/>
            <a:ext cx="548640" cy="219456"/>
          </a:xfrm>
          <a:prstGeom prst="rect">
            <a:avLst/>
          </a:prstGeom>
          <a:noFill/>
          <a:ln/>
        </p:spPr>
        <p:txBody>
          <a:bodyPr wrap="square" lIns="0" tIns="0" rIns="0" bIns="0" rtlCol="0" anchor="ctr"/>
          <a:lstStyle/>
          <a:p>
            <a:pPr marL="0" indent="0" algn="ctr">
              <a:buNone/>
            </a:pPr>
            <a:r>
              <a:rPr lang="en-US" sz="1200" dirty="0">
                <a:solidFill>
                  <a:srgbClr val="5A6C79"/>
                </a:solidFill>
                <a:latin typeface="Calibri" pitchFamily="34" charset="0"/>
                <a:ea typeface="Calibri" pitchFamily="34" charset="-122"/>
                <a:cs typeface="Calibri" pitchFamily="34" charset="-120"/>
              </a:rPr>
              <a:t>40</a:t>
            </a:r>
            <a:endParaRPr lang="en-US" sz="1200" dirty="0"/>
          </a:p>
        </p:txBody>
      </p:sp>
      <p:sp>
        <p:nvSpPr>
          <p:cNvPr id="21" name="Shape 19"/>
          <p:cNvSpPr/>
          <p:nvPr/>
        </p:nvSpPr>
        <p:spPr>
          <a:xfrm>
            <a:off x="3406140" y="2999232"/>
            <a:ext cx="0" cy="1042416"/>
          </a:xfrm>
          <a:prstGeom prst="line">
            <a:avLst/>
          </a:prstGeom>
          <a:noFill/>
          <a:ln w="17780">
            <a:solidFill>
              <a:srgbClr val="C2410C"/>
            </a:solidFill>
            <a:prstDash val="solid"/>
            <a:headEnd type="triangle"/>
            <a:tailEnd type="triangle"/>
          </a:ln>
        </p:spPr>
        <p:txBody>
          <a:bodyPr/>
          <a:lstStyle/>
          <a:p>
            <a:endParaRPr lang="en-US"/>
          </a:p>
        </p:txBody>
      </p:sp>
      <p:sp>
        <p:nvSpPr>
          <p:cNvPr id="22" name="Text 20"/>
          <p:cNvSpPr txBox="1"/>
          <p:nvPr/>
        </p:nvSpPr>
        <p:spPr>
          <a:xfrm>
            <a:off x="3131820" y="4169664"/>
            <a:ext cx="548640" cy="219456"/>
          </a:xfrm>
          <a:prstGeom prst="rect">
            <a:avLst/>
          </a:prstGeom>
          <a:noFill/>
          <a:ln/>
        </p:spPr>
        <p:txBody>
          <a:bodyPr wrap="square" lIns="0" tIns="0" rIns="0" bIns="0" rtlCol="0" anchor="ctr"/>
          <a:lstStyle/>
          <a:p>
            <a:pPr marL="0" indent="0" algn="ctr">
              <a:buNone/>
            </a:pPr>
            <a:r>
              <a:rPr lang="en-US" sz="1200" dirty="0">
                <a:solidFill>
                  <a:srgbClr val="5A6C79"/>
                </a:solidFill>
                <a:latin typeface="Calibri" pitchFamily="34" charset="0"/>
                <a:ea typeface="Calibri" pitchFamily="34" charset="-122"/>
                <a:cs typeface="Calibri" pitchFamily="34" charset="-120"/>
              </a:rPr>
              <a:t>60</a:t>
            </a:r>
            <a:endParaRPr lang="en-US" sz="1200" dirty="0"/>
          </a:p>
        </p:txBody>
      </p:sp>
      <p:sp>
        <p:nvSpPr>
          <p:cNvPr id="23" name="Shape 21"/>
          <p:cNvSpPr/>
          <p:nvPr/>
        </p:nvSpPr>
        <p:spPr>
          <a:xfrm>
            <a:off x="4238244" y="2999232"/>
            <a:ext cx="0" cy="1042416"/>
          </a:xfrm>
          <a:prstGeom prst="line">
            <a:avLst/>
          </a:prstGeom>
          <a:noFill/>
          <a:ln w="17780">
            <a:solidFill>
              <a:srgbClr val="C2410C"/>
            </a:solidFill>
            <a:prstDash val="solid"/>
            <a:headEnd type="triangle"/>
            <a:tailEnd type="triangle"/>
          </a:ln>
        </p:spPr>
        <p:txBody>
          <a:bodyPr/>
          <a:lstStyle/>
          <a:p>
            <a:endParaRPr lang="en-US"/>
          </a:p>
        </p:txBody>
      </p:sp>
      <p:sp>
        <p:nvSpPr>
          <p:cNvPr id="24" name="Text 22"/>
          <p:cNvSpPr txBox="1"/>
          <p:nvPr/>
        </p:nvSpPr>
        <p:spPr>
          <a:xfrm>
            <a:off x="3963924" y="4169664"/>
            <a:ext cx="548640" cy="219456"/>
          </a:xfrm>
          <a:prstGeom prst="rect">
            <a:avLst/>
          </a:prstGeom>
          <a:noFill/>
          <a:ln/>
        </p:spPr>
        <p:txBody>
          <a:bodyPr wrap="square" lIns="0" tIns="0" rIns="0" bIns="0" rtlCol="0" anchor="ctr"/>
          <a:lstStyle/>
          <a:p>
            <a:pPr marL="0" indent="0" algn="ctr">
              <a:buNone/>
            </a:pPr>
            <a:r>
              <a:rPr lang="en-US" sz="1200" dirty="0">
                <a:solidFill>
                  <a:srgbClr val="5A6C79"/>
                </a:solidFill>
                <a:latin typeface="Calibri" pitchFamily="34" charset="0"/>
                <a:ea typeface="Calibri" pitchFamily="34" charset="-122"/>
                <a:cs typeface="Calibri" pitchFamily="34" charset="-120"/>
              </a:rPr>
              <a:t>80</a:t>
            </a:r>
            <a:endParaRPr lang="en-US" sz="1200" dirty="0"/>
          </a:p>
        </p:txBody>
      </p:sp>
      <p:sp>
        <p:nvSpPr>
          <p:cNvPr id="25" name="Shape 23"/>
          <p:cNvSpPr/>
          <p:nvPr/>
        </p:nvSpPr>
        <p:spPr>
          <a:xfrm>
            <a:off x="5070348" y="2999232"/>
            <a:ext cx="0" cy="1042416"/>
          </a:xfrm>
          <a:prstGeom prst="line">
            <a:avLst/>
          </a:prstGeom>
          <a:noFill/>
          <a:ln w="17780">
            <a:solidFill>
              <a:srgbClr val="C2410C"/>
            </a:solidFill>
            <a:prstDash val="solid"/>
            <a:headEnd type="triangle"/>
            <a:tailEnd type="triangle"/>
          </a:ln>
        </p:spPr>
        <p:txBody>
          <a:bodyPr/>
          <a:lstStyle/>
          <a:p>
            <a:endParaRPr lang="en-US"/>
          </a:p>
        </p:txBody>
      </p:sp>
      <p:sp>
        <p:nvSpPr>
          <p:cNvPr id="26" name="Text 24"/>
          <p:cNvSpPr txBox="1"/>
          <p:nvPr/>
        </p:nvSpPr>
        <p:spPr>
          <a:xfrm>
            <a:off x="4796028" y="4169664"/>
            <a:ext cx="548640" cy="219456"/>
          </a:xfrm>
          <a:prstGeom prst="rect">
            <a:avLst/>
          </a:prstGeom>
          <a:noFill/>
          <a:ln/>
        </p:spPr>
        <p:txBody>
          <a:bodyPr wrap="square" lIns="0" tIns="0" rIns="0" bIns="0" rtlCol="0" anchor="ctr"/>
          <a:lstStyle/>
          <a:p>
            <a:pPr marL="0" indent="0" algn="ctr">
              <a:buNone/>
            </a:pPr>
            <a:r>
              <a:rPr lang="en-US" sz="1200" dirty="0">
                <a:solidFill>
                  <a:srgbClr val="5A6C79"/>
                </a:solidFill>
                <a:latin typeface="Calibri" pitchFamily="34" charset="0"/>
                <a:ea typeface="Calibri" pitchFamily="34" charset="-122"/>
                <a:cs typeface="Calibri" pitchFamily="34" charset="-120"/>
              </a:rPr>
              <a:t>100</a:t>
            </a:r>
            <a:endParaRPr lang="en-US" sz="1200" dirty="0"/>
          </a:p>
        </p:txBody>
      </p:sp>
      <p:sp>
        <p:nvSpPr>
          <p:cNvPr id="27" name="Shape 25"/>
          <p:cNvSpPr/>
          <p:nvPr/>
        </p:nvSpPr>
        <p:spPr>
          <a:xfrm>
            <a:off x="2660904" y="3017520"/>
            <a:ext cx="96012" cy="301752"/>
          </a:xfrm>
          <a:prstGeom prst="rect">
            <a:avLst/>
          </a:prstGeom>
          <a:solidFill>
            <a:srgbClr val="FFFFFF"/>
          </a:solidFill>
          <a:ln w="9525">
            <a:solidFill>
              <a:srgbClr val="5A6C79"/>
            </a:solidFill>
            <a:prstDash val="solid"/>
          </a:ln>
        </p:spPr>
        <p:txBody>
          <a:bodyPr/>
          <a:lstStyle/>
          <a:p>
            <a:endParaRPr lang="en-US"/>
          </a:p>
        </p:txBody>
      </p:sp>
      <p:sp>
        <p:nvSpPr>
          <p:cNvPr id="28" name="Shape 26"/>
          <p:cNvSpPr/>
          <p:nvPr/>
        </p:nvSpPr>
        <p:spPr>
          <a:xfrm>
            <a:off x="2660904" y="3364992"/>
            <a:ext cx="96013" cy="301752"/>
          </a:xfrm>
          <a:prstGeom prst="rect">
            <a:avLst/>
          </a:prstGeom>
          <a:solidFill>
            <a:srgbClr val="FFFFFF"/>
          </a:solidFill>
          <a:ln w="9525">
            <a:solidFill>
              <a:srgbClr val="5A6C79"/>
            </a:solidFill>
            <a:prstDash val="solid"/>
          </a:ln>
        </p:spPr>
        <p:txBody>
          <a:bodyPr/>
          <a:lstStyle/>
          <a:p>
            <a:endParaRPr lang="en-US"/>
          </a:p>
        </p:txBody>
      </p:sp>
      <p:sp>
        <p:nvSpPr>
          <p:cNvPr id="29" name="Shape 27"/>
          <p:cNvSpPr/>
          <p:nvPr/>
        </p:nvSpPr>
        <p:spPr>
          <a:xfrm>
            <a:off x="2660904" y="3712464"/>
            <a:ext cx="96013" cy="301752"/>
          </a:xfrm>
          <a:prstGeom prst="rect">
            <a:avLst/>
          </a:prstGeom>
          <a:solidFill>
            <a:srgbClr val="FFFFFF"/>
          </a:solidFill>
          <a:ln w="9525">
            <a:solidFill>
              <a:srgbClr val="5A6C79"/>
            </a:solidFill>
            <a:prstDash val="solid"/>
          </a:ln>
        </p:spPr>
        <p:txBody>
          <a:bodyPr/>
          <a:lstStyle/>
          <a:p>
            <a:endParaRPr lang="en-US"/>
          </a:p>
        </p:txBody>
      </p:sp>
      <p:sp>
        <p:nvSpPr>
          <p:cNvPr id="30" name="Text 28"/>
          <p:cNvSpPr txBox="1"/>
          <p:nvPr/>
        </p:nvSpPr>
        <p:spPr>
          <a:xfrm>
            <a:off x="1999488" y="2486152"/>
            <a:ext cx="1737360" cy="219456"/>
          </a:xfrm>
          <a:prstGeom prst="rect">
            <a:avLst/>
          </a:prstGeom>
          <a:noFill/>
          <a:ln/>
        </p:spPr>
        <p:txBody>
          <a:bodyPr wrap="square" lIns="0" tIns="0" rIns="0" bIns="0" rtlCol="0" anchor="ctr"/>
          <a:lstStyle/>
          <a:p>
            <a:pPr marL="0" indent="0" algn="ctr">
              <a:buNone/>
            </a:pPr>
            <a:r>
              <a:rPr lang="en-US" sz="1200" dirty="0">
                <a:solidFill>
                  <a:srgbClr val="5A6C79"/>
                </a:solidFill>
                <a:latin typeface="Calibri" pitchFamily="34" charset="0"/>
                <a:ea typeface="Calibri" pitchFamily="34" charset="-122"/>
                <a:cs typeface="Calibri" pitchFamily="34" charset="-120"/>
              </a:rPr>
              <a:t>30 cm ruler, laid end to end</a:t>
            </a:r>
            <a:endParaRPr lang="en-US" sz="1200" dirty="0"/>
          </a:p>
        </p:txBody>
      </p:sp>
      <p:sp>
        <p:nvSpPr>
          <p:cNvPr id="31" name="Shape 29"/>
          <p:cNvSpPr/>
          <p:nvPr/>
        </p:nvSpPr>
        <p:spPr>
          <a:xfrm>
            <a:off x="2712720" y="2707640"/>
            <a:ext cx="0" cy="128016"/>
          </a:xfrm>
          <a:prstGeom prst="line">
            <a:avLst/>
          </a:prstGeom>
          <a:noFill/>
          <a:ln w="9525">
            <a:solidFill>
              <a:srgbClr val="5A6C79"/>
            </a:solidFill>
            <a:prstDash val="solid"/>
          </a:ln>
        </p:spPr>
        <p:txBody>
          <a:bodyPr/>
          <a:lstStyle/>
          <a:p>
            <a:endParaRPr lang="en-US"/>
          </a:p>
        </p:txBody>
      </p:sp>
      <p:sp>
        <p:nvSpPr>
          <p:cNvPr id="32" name="Text 30"/>
          <p:cNvSpPr txBox="1"/>
          <p:nvPr/>
        </p:nvSpPr>
        <p:spPr>
          <a:xfrm>
            <a:off x="4023360" y="2516632"/>
            <a:ext cx="1463040" cy="219456"/>
          </a:xfrm>
          <a:prstGeom prst="rect">
            <a:avLst/>
          </a:prstGeom>
          <a:noFill/>
          <a:ln/>
        </p:spPr>
        <p:txBody>
          <a:bodyPr wrap="square" lIns="0" tIns="0" rIns="0" bIns="0" rtlCol="0" anchor="ctr"/>
          <a:lstStyle/>
          <a:p>
            <a:pPr marL="0" indent="0" algn="r">
              <a:buNone/>
            </a:pPr>
            <a:r>
              <a:rPr lang="en-US" sz="1200" dirty="0">
                <a:solidFill>
                  <a:srgbClr val="A9B7C2"/>
                </a:solidFill>
                <a:latin typeface="Calibri" pitchFamily="34" charset="0"/>
                <a:ea typeface="Calibri" pitchFamily="34" charset="-122"/>
                <a:cs typeface="Calibri" pitchFamily="34" charset="-120"/>
              </a:rPr>
              <a:t>not to scale</a:t>
            </a:r>
            <a:endParaRPr lang="en-US" sz="1200" dirty="0"/>
          </a:p>
        </p:txBody>
      </p:sp>
      <p:sp>
        <p:nvSpPr>
          <p:cNvPr id="33" name="Text 31"/>
          <p:cNvSpPr txBox="1"/>
          <p:nvPr/>
        </p:nvSpPr>
        <p:spPr>
          <a:xfrm>
            <a:off x="1325880" y="4506976"/>
            <a:ext cx="4160520" cy="237744"/>
          </a:xfrm>
          <a:prstGeom prst="rect">
            <a:avLst/>
          </a:prstGeom>
          <a:noFill/>
          <a:ln/>
        </p:spPr>
        <p:txBody>
          <a:bodyPr wrap="square" lIns="0" tIns="0" rIns="0" bIns="0" rtlCol="0" anchor="ctr"/>
          <a:lstStyle/>
          <a:p>
            <a:pPr marL="0" indent="0" algn="ctr">
              <a:buNone/>
            </a:pPr>
            <a:r>
              <a:rPr lang="en-US" sz="1600" dirty="0">
                <a:solidFill>
                  <a:srgbClr val="162A3A"/>
                </a:solidFill>
                <a:latin typeface="Calibri" pitchFamily="34" charset="0"/>
                <a:ea typeface="Calibri" pitchFamily="34" charset="-122"/>
                <a:cs typeface="Calibri" pitchFamily="34" charset="-120"/>
              </a:rPr>
              <a:t>Position along table (cm)</a:t>
            </a:r>
            <a:endParaRPr lang="en-US" sz="1600" dirty="0"/>
          </a:p>
        </p:txBody>
      </p:sp>
      <p:sp>
        <p:nvSpPr>
          <p:cNvPr id="34" name="Text 32"/>
          <p:cNvSpPr txBox="1"/>
          <p:nvPr/>
        </p:nvSpPr>
        <p:spPr>
          <a:xfrm>
            <a:off x="457200" y="5102352"/>
            <a:ext cx="5486400" cy="310896"/>
          </a:xfrm>
          <a:prstGeom prst="rect">
            <a:avLst/>
          </a:prstGeom>
          <a:noFill/>
          <a:ln/>
        </p:spPr>
        <p:txBody>
          <a:bodyPr wrap="square" lIns="0" tIns="0" rIns="0" bIns="0" rtlCol="0" anchor="ctr"/>
          <a:lstStyle/>
          <a:p>
            <a:pPr marL="0" indent="0" algn="ctr">
              <a:buNone/>
            </a:pPr>
            <a:r>
              <a:rPr lang="en-US" sz="1200" dirty="0">
                <a:solidFill>
                  <a:srgbClr val="3C5165"/>
                </a:solidFill>
                <a:latin typeface="Calibri" pitchFamily="34" charset="0"/>
                <a:ea typeface="Calibri" pitchFamily="34" charset="-122"/>
                <a:cs typeface="Calibri" pitchFamily="34" charset="-120"/>
              </a:rPr>
              <a:t>Width taken at 5 positions, 5 trials at each position. Trials randomized.</a:t>
            </a:r>
            <a:endParaRPr lang="en-US" sz="1200" dirty="0"/>
          </a:p>
        </p:txBody>
      </p:sp>
      <p:sp>
        <p:nvSpPr>
          <p:cNvPr id="35" name="Shape 33"/>
          <p:cNvSpPr/>
          <p:nvPr/>
        </p:nvSpPr>
        <p:spPr>
          <a:xfrm>
            <a:off x="6248095" y="1821688"/>
            <a:ext cx="5486400" cy="3683000"/>
          </a:xfrm>
          <a:prstGeom prst="roundRect">
            <a:avLst>
              <a:gd name="adj" fmla="val 1453"/>
            </a:avLst>
          </a:prstGeom>
          <a:solidFill>
            <a:srgbClr val="FFFFFF"/>
          </a:solidFill>
          <a:ln w="12700">
            <a:solidFill>
              <a:srgbClr val="A9B7C2"/>
            </a:solidFill>
            <a:prstDash val="solid"/>
          </a:ln>
        </p:spPr>
        <p:txBody>
          <a:bodyPr/>
          <a:lstStyle/>
          <a:p>
            <a:endParaRPr lang="en-US"/>
          </a:p>
        </p:txBody>
      </p:sp>
      <p:sp>
        <p:nvSpPr>
          <p:cNvPr id="36" name="Shape 34"/>
          <p:cNvSpPr/>
          <p:nvPr/>
        </p:nvSpPr>
        <p:spPr>
          <a:xfrm>
            <a:off x="6449263" y="1967992"/>
            <a:ext cx="274320" cy="274320"/>
          </a:xfrm>
          <a:prstGeom prst="ellipse">
            <a:avLst/>
          </a:prstGeom>
          <a:solidFill>
            <a:srgbClr val="C2410C"/>
          </a:solidFill>
          <a:ln w="12700">
            <a:solidFill>
              <a:srgbClr val="C2410C"/>
            </a:solidFill>
            <a:prstDash val="solid"/>
          </a:ln>
        </p:spPr>
        <p:txBody>
          <a:bodyPr/>
          <a:lstStyle/>
          <a:p>
            <a:endParaRPr lang="en-US"/>
          </a:p>
        </p:txBody>
      </p:sp>
      <p:sp>
        <p:nvSpPr>
          <p:cNvPr id="37" name="Text 35"/>
          <p:cNvSpPr txBox="1"/>
          <p:nvPr/>
        </p:nvSpPr>
        <p:spPr>
          <a:xfrm>
            <a:off x="6449263" y="1972564"/>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8" name="Text 36"/>
          <p:cNvSpPr txBox="1"/>
          <p:nvPr/>
        </p:nvSpPr>
        <p:spPr>
          <a:xfrm>
            <a:off x="6833311" y="1949704"/>
            <a:ext cx="4700016" cy="310896"/>
          </a:xfrm>
          <a:prstGeom prst="rect">
            <a:avLst/>
          </a:prstGeom>
          <a:noFill/>
          <a:ln/>
        </p:spPr>
        <p:txBody>
          <a:bodyPr wrap="square" lIns="0" tIns="0" rIns="0" bIns="0" rtlCol="0" anchor="ctr"/>
          <a:lstStyle/>
          <a:p>
            <a:pPr marL="0" indent="0">
              <a:buNone/>
            </a:pPr>
            <a:r>
              <a:rPr lang="en-US" sz="1400" b="1" kern="0" spc="110" dirty="0">
                <a:solidFill>
                  <a:srgbClr val="162A3A"/>
                </a:solidFill>
                <a:latin typeface="Calibri" pitchFamily="34" charset="0"/>
                <a:ea typeface="Calibri" pitchFamily="34" charset="-122"/>
                <a:cs typeface="Calibri" pitchFamily="34" charset="-120"/>
              </a:rPr>
              <a:t>RESULT</a:t>
            </a:r>
            <a:endParaRPr lang="en-US" sz="1400" dirty="0"/>
          </a:p>
        </p:txBody>
      </p:sp>
      <p:graphicFrame>
        <p:nvGraphicFramePr>
          <p:cNvPr id="39" name="Chart 0"/>
          <p:cNvGraphicFramePr/>
          <p:nvPr>
            <p:extLst>
              <p:ext uri="{D42A27DB-BD31-4B8C-83A1-F6EECF244321}">
                <p14:modId xmlns:p14="http://schemas.microsoft.com/office/powerpoint/2010/main" val="3586914091"/>
              </p:ext>
            </p:extLst>
          </p:nvPr>
        </p:nvGraphicFramePr>
        <p:xfrm>
          <a:off x="6430975" y="2406904"/>
          <a:ext cx="5120640" cy="2658872"/>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a14="http://schemas.microsoft.com/office/drawing/2010/main">
        <mc:Choice Requires="a14">
          <p:sp>
            <p:nvSpPr>
              <p:cNvPr id="40" name="Text 37"/>
              <p:cNvSpPr txBox="1"/>
              <p:nvPr/>
            </p:nvSpPr>
            <p:spPr>
              <a:xfrm>
                <a:off x="6449263" y="5102352"/>
                <a:ext cx="5084064" cy="310896"/>
              </a:xfrm>
              <a:prstGeom prst="rect">
                <a:avLst/>
              </a:prstGeom>
              <a:noFill/>
              <a:ln/>
            </p:spPr>
            <p:txBody>
              <a:bodyPr wrap="square" lIns="0" tIns="0" rIns="0" bIns="0" rtlCol="0" anchor="ctr"/>
              <a:lstStyle/>
              <a:p>
                <a:pPr algn="ctr"/>
                <a:r>
                  <a:rPr lang="en-US" sz="1200" dirty="0">
                    <a:solidFill>
                      <a:srgbClr val="3C5165"/>
                    </a:solidFill>
                    <a:latin typeface="Calibri" pitchFamily="34" charset="0"/>
                    <a:ea typeface="Calibri" pitchFamily="34" charset="-122"/>
                    <a:cs typeface="Calibri" pitchFamily="34" charset="-120"/>
                  </a:rPr>
                  <a:t>Points: mean ± SEM. Difference between left and right edge is 7.6 mm </a:t>
                </a:r>
                <a14:m>
                  <m:oMath xmlns:m="http://schemas.openxmlformats.org/officeDocument/2006/math">
                    <m:r>
                      <a:rPr lang="en-US" sz="1200" b="0" i="1" smtClean="0">
                        <a:solidFill>
                          <a:srgbClr val="3C5165"/>
                        </a:solidFill>
                        <a:latin typeface="Cambria Math" panose="02040503050406030204" pitchFamily="18" charset="0"/>
                        <a:ea typeface="Calibri" pitchFamily="34" charset="-122"/>
                        <a:cs typeface="Calibri" pitchFamily="34" charset="-120"/>
                      </a:rPr>
                      <m:t>±</m:t>
                    </m:r>
                  </m:oMath>
                </a14:m>
                <a:r>
                  <a:rPr lang="en-US" sz="1200" dirty="0"/>
                  <a:t> </a:t>
                </a:r>
                <a:r>
                  <a:rPr lang="en-US" sz="1200" dirty="0">
                    <a:solidFill>
                      <a:srgbClr val="3C5165"/>
                    </a:solidFill>
                    <a:latin typeface="Calibri" pitchFamily="34" charset="0"/>
                    <a:ea typeface="Calibri" pitchFamily="34" charset="-122"/>
                    <a:cs typeface="Calibri" pitchFamily="34" charset="-120"/>
                  </a:rPr>
                  <a:t>0.2 mm</a:t>
                </a:r>
                <a:endParaRPr lang="en-US" sz="1200" dirty="0"/>
              </a:p>
            </p:txBody>
          </p:sp>
        </mc:Choice>
        <mc:Fallback xmlns="">
          <p:sp>
            <p:nvSpPr>
              <p:cNvPr id="40" name="Text 37"/>
              <p:cNvSpPr txBox="1">
                <a:spLocks noRot="1" noChangeAspect="1" noMove="1" noResize="1" noEditPoints="1" noAdjustHandles="1" noChangeArrowheads="1" noChangeShapeType="1" noTextEdit="1"/>
              </p:cNvSpPr>
              <p:nvPr/>
            </p:nvSpPr>
            <p:spPr>
              <a:xfrm>
                <a:off x="6449263" y="5102352"/>
                <a:ext cx="5084064" cy="310896"/>
              </a:xfrm>
              <a:prstGeom prst="rect">
                <a:avLst/>
              </a:prstGeom>
              <a:blipFill>
                <a:blip r:embed="rId5"/>
                <a:stretch>
                  <a:fillRect l="-839" r="-959" b="-9804"/>
                </a:stretch>
              </a:blipFill>
              <a:ln/>
            </p:spPr>
            <p:txBody>
              <a:bodyPr/>
              <a:lstStyle/>
              <a:p>
                <a:r>
                  <a:rPr lang="en-US">
                    <a:noFill/>
                  </a:rPr>
                  <a:t> </a:t>
                </a:r>
              </a:p>
            </p:txBody>
          </p:sp>
        </mc:Fallback>
      </mc:AlternateContent>
      <p:sp>
        <p:nvSpPr>
          <p:cNvPr id="41" name="Shape 38"/>
          <p:cNvSpPr/>
          <p:nvPr/>
        </p:nvSpPr>
        <p:spPr>
          <a:xfrm>
            <a:off x="457200" y="5705856"/>
            <a:ext cx="11277295" cy="1049528"/>
          </a:xfrm>
          <a:prstGeom prst="roundRect">
            <a:avLst>
              <a:gd name="adj" fmla="val 7143"/>
            </a:avLst>
          </a:prstGeom>
          <a:solidFill>
            <a:srgbClr val="EDF1F4"/>
          </a:solidFill>
          <a:ln w="12700">
            <a:solidFill>
              <a:srgbClr val="EDF1F4"/>
            </a:solidFill>
            <a:prstDash val="solid"/>
          </a:ln>
        </p:spPr>
        <p:txBody>
          <a:bodyPr/>
          <a:lstStyle/>
          <a:p>
            <a:endParaRPr lang="en-US"/>
          </a:p>
        </p:txBody>
      </p:sp>
      <p:sp>
        <p:nvSpPr>
          <p:cNvPr id="42" name="Shape 39"/>
          <p:cNvSpPr/>
          <p:nvPr/>
        </p:nvSpPr>
        <p:spPr>
          <a:xfrm>
            <a:off x="640080" y="5815584"/>
            <a:ext cx="274320" cy="274320"/>
          </a:xfrm>
          <a:prstGeom prst="ellipse">
            <a:avLst/>
          </a:prstGeom>
          <a:solidFill>
            <a:srgbClr val="C2410C"/>
          </a:solidFill>
          <a:ln w="12700">
            <a:solidFill>
              <a:srgbClr val="C2410C"/>
            </a:solidFill>
            <a:prstDash val="solid"/>
          </a:ln>
        </p:spPr>
        <p:txBody>
          <a:bodyPr/>
          <a:lstStyle/>
          <a:p>
            <a:endParaRPr lang="en-US"/>
          </a:p>
        </p:txBody>
      </p:sp>
      <p:sp>
        <p:nvSpPr>
          <p:cNvPr id="43" name="Text 40"/>
          <p:cNvSpPr txBox="1"/>
          <p:nvPr/>
        </p:nvSpPr>
        <p:spPr>
          <a:xfrm>
            <a:off x="640080" y="5820156"/>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4" name="Text 41"/>
          <p:cNvSpPr txBox="1"/>
          <p:nvPr/>
        </p:nvSpPr>
        <p:spPr>
          <a:xfrm>
            <a:off x="1024128" y="5797296"/>
            <a:ext cx="2926080" cy="310896"/>
          </a:xfrm>
          <a:prstGeom prst="rect">
            <a:avLst/>
          </a:prstGeom>
          <a:noFill/>
          <a:ln/>
        </p:spPr>
        <p:txBody>
          <a:bodyPr wrap="square" lIns="0" tIns="0" rIns="0" bIns="0" rtlCol="0" anchor="ctr"/>
          <a:lstStyle/>
          <a:p>
            <a:pPr marL="0" indent="0">
              <a:buNone/>
            </a:pPr>
            <a:r>
              <a:rPr lang="en-US" sz="1400" b="1" kern="0" spc="110" dirty="0">
                <a:solidFill>
                  <a:srgbClr val="162A3A"/>
                </a:solidFill>
                <a:latin typeface="Calibri" pitchFamily="34" charset="0"/>
                <a:ea typeface="Calibri" pitchFamily="34" charset="-122"/>
                <a:cs typeface="Calibri" pitchFamily="34" charset="-120"/>
              </a:rPr>
              <a:t>TAKEAWAY  →  NEXT STEP</a:t>
            </a:r>
            <a:endParaRPr lang="en-US" sz="1400" dirty="0"/>
          </a:p>
        </p:txBody>
      </p:sp>
      <p:sp>
        <p:nvSpPr>
          <p:cNvPr id="45" name="Text 42"/>
          <p:cNvSpPr txBox="1"/>
          <p:nvPr/>
        </p:nvSpPr>
        <p:spPr>
          <a:xfrm>
            <a:off x="658368" y="6181344"/>
            <a:ext cx="10874959" cy="574040"/>
          </a:xfrm>
          <a:prstGeom prst="rect">
            <a:avLst/>
          </a:prstGeom>
          <a:noFill/>
          <a:ln/>
        </p:spPr>
        <p:txBody>
          <a:bodyPr wrap="square" lIns="0" tIns="0" rIns="0" bIns="0" rtlCol="0" anchor="t"/>
          <a:lstStyle/>
          <a:p>
            <a:pPr marL="0" indent="0">
              <a:buNone/>
            </a:pPr>
            <a:r>
              <a:rPr lang="en-US" sz="1600" dirty="0">
                <a:solidFill>
                  <a:srgbClr val="3C5165"/>
                </a:solidFill>
                <a:latin typeface="Calibri" pitchFamily="34" charset="0"/>
                <a:ea typeface="Calibri" pitchFamily="34" charset="-122"/>
                <a:cs typeface="Calibri" pitchFamily="34" charset="-120"/>
              </a:rPr>
              <a:t>The difference in width between the opposite ends of the table is significant: </a:t>
            </a:r>
            <a:r>
              <a:rPr lang="en-US" sz="1600" b="1" dirty="0">
                <a:solidFill>
                  <a:srgbClr val="3C5165"/>
                </a:solidFill>
                <a:latin typeface="Calibri" pitchFamily="34" charset="0"/>
                <a:ea typeface="Calibri" pitchFamily="34" charset="-122"/>
                <a:cs typeface="Calibri" pitchFamily="34" charset="-120"/>
              </a:rPr>
              <a:t>the table does not have a fixed width</a:t>
            </a:r>
            <a:r>
              <a:rPr lang="en-US" sz="1600" dirty="0">
                <a:solidFill>
                  <a:srgbClr val="3C5165"/>
                </a:solidFill>
                <a:latin typeface="Calibri" pitchFamily="34" charset="0"/>
                <a:ea typeface="Calibri" pitchFamily="34" charset="-122"/>
                <a:cs typeface="Calibri" pitchFamily="34" charset="-120"/>
              </a:rPr>
              <a:t>. </a:t>
            </a:r>
          </a:p>
          <a:p>
            <a:pPr marL="0" indent="0">
              <a:buNone/>
            </a:pPr>
            <a:r>
              <a:rPr lang="en-US" sz="1600" dirty="0">
                <a:solidFill>
                  <a:srgbClr val="3C5165"/>
                </a:solidFill>
                <a:latin typeface="Calibri" pitchFamily="34" charset="0"/>
                <a:ea typeface="Calibri" pitchFamily="34" charset="-122"/>
                <a:cs typeface="Calibri" pitchFamily="34" charset="-120"/>
              </a:rPr>
              <a:t>The ruler path might have drifted which could make every measurement systematically too long.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19456"/>
            <a:ext cx="11277295" cy="256032"/>
          </a:xfrm>
          <a:prstGeom prst="rect">
            <a:avLst/>
          </a:prstGeom>
          <a:noFill/>
          <a:ln/>
        </p:spPr>
        <p:txBody>
          <a:bodyPr wrap="square" lIns="0" tIns="0" rIns="0" bIns="0" rtlCol="0" anchor="ctr"/>
          <a:lstStyle/>
          <a:p>
            <a:r>
              <a:rPr lang="en-US" sz="1100" b="1" kern="0" spc="80" dirty="0">
                <a:latin typeface="Calibri" pitchFamily="34" charset="0"/>
                <a:ea typeface="Calibri" pitchFamily="34" charset="-122"/>
                <a:cs typeface="Calibri" pitchFamily="34" charset="-120"/>
              </a:rPr>
              <a:t>One slide, two minutes maximum </a:t>
            </a:r>
          </a:p>
          <a:p>
            <a:r>
              <a:rPr lang="en-US" sz="1100" b="1" kern="0" spc="80" dirty="0">
                <a:latin typeface="Calibri" pitchFamily="34" charset="0"/>
                <a:ea typeface="Calibri" pitchFamily="34" charset="-122"/>
                <a:cs typeface="Calibri" pitchFamily="34" charset="-120"/>
              </a:rPr>
              <a:t>Recommended: </a:t>
            </a:r>
            <a:r>
              <a:rPr lang="en-US" sz="1100" b="1" kern="0" spc="80" dirty="0">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Download PowerPoint for free</a:t>
            </a:r>
            <a:r>
              <a:rPr lang="en-US" sz="1100" b="1" kern="0" spc="80" dirty="0">
                <a:latin typeface="Calibri" pitchFamily="34" charset="0"/>
                <a:ea typeface="Calibri" pitchFamily="34" charset="-122"/>
                <a:cs typeface="Calibri" pitchFamily="34" charset="-120"/>
              </a:rPr>
              <a:t> with your HMC email address and HMC Credentials password.</a:t>
            </a:r>
            <a:endParaRPr lang="en-US" sz="1100" dirty="0"/>
          </a:p>
        </p:txBody>
      </p:sp>
      <p:sp>
        <p:nvSpPr>
          <p:cNvPr id="3" name="Text 1"/>
          <p:cNvSpPr txBox="1"/>
          <p:nvPr/>
        </p:nvSpPr>
        <p:spPr>
          <a:xfrm>
            <a:off x="457200" y="566928"/>
            <a:ext cx="11277295" cy="566928"/>
          </a:xfrm>
          <a:prstGeom prst="rect">
            <a:avLst/>
          </a:prstGeom>
          <a:noFill/>
          <a:ln/>
        </p:spPr>
        <p:txBody>
          <a:bodyPr wrap="square" lIns="0" tIns="0" rIns="0" bIns="0" rtlCol="0" anchor="ctr"/>
          <a:lstStyle/>
          <a:p>
            <a:pPr marL="0" indent="0">
              <a:buNone/>
            </a:pPr>
            <a:r>
              <a:rPr lang="en-US" sz="3200" b="1" dirty="0">
                <a:latin typeface="Cambria" pitchFamily="34" charset="0"/>
                <a:ea typeface="Cambria" pitchFamily="34" charset="-122"/>
                <a:cs typeface="Cambria" pitchFamily="34" charset="-120"/>
              </a:rPr>
              <a:t>Guidance for creating the slide</a:t>
            </a:r>
            <a:endParaRPr lang="en-US" sz="3200" dirty="0"/>
          </a:p>
        </p:txBody>
      </p:sp>
      <p:sp>
        <p:nvSpPr>
          <p:cNvPr id="7" name="Text 5"/>
          <p:cNvSpPr txBox="1"/>
          <p:nvPr/>
        </p:nvSpPr>
        <p:spPr>
          <a:xfrm>
            <a:off x="859536" y="1206583"/>
            <a:ext cx="5038344" cy="310896"/>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The title is the result</a:t>
            </a:r>
            <a:endParaRPr lang="en-US" sz="1400" dirty="0"/>
          </a:p>
        </p:txBody>
      </p:sp>
      <p:sp>
        <p:nvSpPr>
          <p:cNvPr id="8" name="Text 6"/>
          <p:cNvSpPr txBox="1"/>
          <p:nvPr/>
        </p:nvSpPr>
        <p:spPr>
          <a:xfrm>
            <a:off x="859536" y="1554055"/>
            <a:ext cx="5038344" cy="731520"/>
          </a:xfrm>
          <a:prstGeom prst="rect">
            <a:avLst/>
          </a:prstGeom>
          <a:noFill/>
          <a:ln/>
        </p:spPr>
        <p:txBody>
          <a:bodyPr wrap="square" lIns="0" tIns="0" rIns="0" bIns="0" rtlCol="0" anchor="t"/>
          <a:lstStyle/>
          <a:p>
            <a:pPr>
              <a:lnSpc>
                <a:spcPct val="114000"/>
              </a:lnSpc>
            </a:pPr>
            <a:r>
              <a:rPr lang="en-US" sz="1150" dirty="0">
                <a:latin typeface="Calibri" pitchFamily="34" charset="0"/>
                <a:ea typeface="Calibri" pitchFamily="34" charset="-122"/>
                <a:cs typeface="Calibri" pitchFamily="34" charset="-120"/>
              </a:rPr>
              <a:t>State the main result in the title, not simply a topic. What do you want your audience to takeaway from your talk? Sometimes the systematic error you found is the result, not the number you got.</a:t>
            </a:r>
            <a:endParaRPr lang="en-US" sz="1150" dirty="0"/>
          </a:p>
        </p:txBody>
      </p:sp>
      <p:sp>
        <p:nvSpPr>
          <p:cNvPr id="11" name="Text 9"/>
          <p:cNvSpPr txBox="1"/>
          <p:nvPr/>
        </p:nvSpPr>
        <p:spPr>
          <a:xfrm>
            <a:off x="6693408" y="1206583"/>
            <a:ext cx="5038344" cy="310896"/>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Make the layout simple: we recommend a two-panel slide  </a:t>
            </a:r>
            <a:endParaRPr lang="en-US" sz="1400" dirty="0"/>
          </a:p>
        </p:txBody>
      </p:sp>
      <p:sp>
        <p:nvSpPr>
          <p:cNvPr id="12" name="Text 10"/>
          <p:cNvSpPr txBox="1"/>
          <p:nvPr/>
        </p:nvSpPr>
        <p:spPr>
          <a:xfrm>
            <a:off x="6693408" y="1554054"/>
            <a:ext cx="5038344" cy="1207009"/>
          </a:xfrm>
          <a:prstGeom prst="rect">
            <a:avLst/>
          </a:prstGeom>
          <a:noFill/>
          <a:ln/>
        </p:spPr>
        <p:txBody>
          <a:bodyPr wrap="square" lIns="0" tIns="0" rIns="0" bIns="0" rtlCol="0" anchor="t"/>
          <a:lstStyle/>
          <a:p>
            <a:pPr>
              <a:lnSpc>
                <a:spcPct val="114000"/>
              </a:lnSpc>
            </a:pPr>
            <a:r>
              <a:rPr lang="en-US" sz="1150" dirty="0">
                <a:latin typeface="Calibri" pitchFamily="34" charset="0"/>
                <a:ea typeface="Calibri" pitchFamily="34" charset="-122"/>
                <a:cs typeface="Calibri" pitchFamily="34" charset="-120"/>
              </a:rPr>
              <a:t>The approach gets a schematic, the result gets a figure, side by side and about the same size. Make visual elements as large as possible without overcrowding the slide. Shrink the slide to 25% or stand two meters from your laptop to understand how your audience might see the slide. Check before you present: read your title out loud, then look only at your two pictures. A classmate/colleague should be able to get the point from those alone. </a:t>
            </a:r>
          </a:p>
          <a:p>
            <a:pPr>
              <a:lnSpc>
                <a:spcPct val="114000"/>
              </a:lnSpc>
            </a:pPr>
            <a:endParaRPr lang="en-US" sz="1150" dirty="0">
              <a:latin typeface="Calibri" pitchFamily="34" charset="0"/>
              <a:ea typeface="Calibri" pitchFamily="34" charset="-122"/>
              <a:cs typeface="Calibri" pitchFamily="34" charset="-120"/>
            </a:endParaRPr>
          </a:p>
          <a:p>
            <a:pPr>
              <a:lnSpc>
                <a:spcPct val="114000"/>
              </a:lnSpc>
            </a:pPr>
            <a:endParaRPr lang="en-US" sz="1150" dirty="0">
              <a:latin typeface="Calibri" pitchFamily="34" charset="0"/>
              <a:ea typeface="Calibri" pitchFamily="34" charset="-122"/>
              <a:cs typeface="Calibri" pitchFamily="34" charset="-120"/>
            </a:endParaRPr>
          </a:p>
          <a:p>
            <a:pPr>
              <a:lnSpc>
                <a:spcPct val="114000"/>
              </a:lnSpc>
            </a:pPr>
            <a:endParaRPr lang="en-US" sz="1150" dirty="0"/>
          </a:p>
          <a:p>
            <a:pPr>
              <a:lnSpc>
                <a:spcPct val="114000"/>
              </a:lnSpc>
            </a:pPr>
            <a:endParaRPr lang="en-US" sz="1150" dirty="0"/>
          </a:p>
          <a:p>
            <a:pPr marL="0" indent="0">
              <a:lnSpc>
                <a:spcPct val="114000"/>
              </a:lnSpc>
              <a:buNone/>
            </a:pPr>
            <a:endParaRPr lang="en-US" sz="1150" dirty="0"/>
          </a:p>
        </p:txBody>
      </p:sp>
      <p:sp>
        <p:nvSpPr>
          <p:cNvPr id="19" name="Text 17"/>
          <p:cNvSpPr txBox="1"/>
          <p:nvPr/>
        </p:nvSpPr>
        <p:spPr>
          <a:xfrm>
            <a:off x="859536" y="2312796"/>
            <a:ext cx="5038344" cy="310896"/>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An Approach schematic should clearly show your procedure</a:t>
            </a:r>
            <a:endParaRPr lang="en-US" sz="1400" dirty="0"/>
          </a:p>
        </p:txBody>
      </p:sp>
      <p:sp>
        <p:nvSpPr>
          <p:cNvPr id="20" name="Text 18"/>
          <p:cNvSpPr txBox="1"/>
          <p:nvPr/>
        </p:nvSpPr>
        <p:spPr>
          <a:xfrm>
            <a:off x="859536" y="2648359"/>
            <a:ext cx="5038344" cy="1443476"/>
          </a:xfrm>
          <a:prstGeom prst="rect">
            <a:avLst/>
          </a:prstGeom>
          <a:noFill/>
          <a:ln/>
        </p:spPr>
        <p:txBody>
          <a:bodyPr wrap="square" lIns="0" tIns="0" rIns="0" bIns="0" rtlCol="0" anchor="t"/>
          <a:lstStyle/>
          <a:p>
            <a:pPr>
              <a:lnSpc>
                <a:spcPct val="114000"/>
              </a:lnSpc>
            </a:pPr>
            <a:r>
              <a:rPr lang="en-US" sz="1150" dirty="0">
                <a:latin typeface="Calibri" pitchFamily="34" charset="0"/>
                <a:ea typeface="Calibri" pitchFamily="34" charset="-122"/>
                <a:cs typeface="Calibri" pitchFamily="34" charset="-120"/>
              </a:rPr>
              <a:t>A drawing answers “what did you do” faster than any sentence. The schematic should make the comparison obvious: what changed between conditions and what did you deliberately hold fixed? Schematics drawn either in PowerPoint (or other software) or something drawn neatly by hand can work well in Physics 50. Photos of a setup are usually less clear without taking significant extra care in setting up the photo to minimize visual distraction and then adding labels to the image.</a:t>
            </a:r>
          </a:p>
        </p:txBody>
      </p:sp>
      <p:sp>
        <p:nvSpPr>
          <p:cNvPr id="30" name="Text 17">
            <a:extLst>
              <a:ext uri="{FF2B5EF4-FFF2-40B4-BE49-F238E27FC236}">
                <a16:creationId xmlns:a16="http://schemas.microsoft.com/office/drawing/2014/main" id="{1B1E9C60-E2FD-305F-93A5-B9D19BB69467}"/>
              </a:ext>
            </a:extLst>
          </p:cNvPr>
          <p:cNvSpPr txBox="1"/>
          <p:nvPr/>
        </p:nvSpPr>
        <p:spPr>
          <a:xfrm>
            <a:off x="6693408" y="2835494"/>
            <a:ext cx="5038344" cy="310896"/>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Your results should be displayed in a graph</a:t>
            </a:r>
            <a:endParaRPr lang="en-US" sz="1400" dirty="0"/>
          </a:p>
        </p:txBody>
      </p:sp>
      <p:sp>
        <p:nvSpPr>
          <p:cNvPr id="31" name="Text 10">
            <a:extLst>
              <a:ext uri="{FF2B5EF4-FFF2-40B4-BE49-F238E27FC236}">
                <a16:creationId xmlns:a16="http://schemas.microsoft.com/office/drawing/2014/main" id="{367BF012-5969-A531-D6AA-C56A5534F49C}"/>
              </a:ext>
            </a:extLst>
          </p:cNvPr>
          <p:cNvSpPr txBox="1"/>
          <p:nvPr/>
        </p:nvSpPr>
        <p:spPr>
          <a:xfrm>
            <a:off x="6693408" y="3146390"/>
            <a:ext cx="5038344" cy="1207009"/>
          </a:xfrm>
          <a:prstGeom prst="rect">
            <a:avLst/>
          </a:prstGeom>
          <a:noFill/>
          <a:ln/>
        </p:spPr>
        <p:txBody>
          <a:bodyPr wrap="square" lIns="0" tIns="0" rIns="0" bIns="0" rtlCol="0" anchor="t"/>
          <a:lstStyle/>
          <a:p>
            <a:pPr>
              <a:lnSpc>
                <a:spcPct val="114000"/>
              </a:lnSpc>
            </a:pPr>
            <a:r>
              <a:rPr lang="en-US" sz="1150" dirty="0">
                <a:latin typeface="Calibri" pitchFamily="34" charset="0"/>
                <a:ea typeface="Calibri" pitchFamily="34" charset="-122"/>
                <a:cs typeface="Calibri" pitchFamily="34" charset="-120"/>
              </a:rPr>
              <a:t>Near any result, display number of trials and what the error bars represent.  But don’t add too much extra text. Use text for labels, rather than having long sentences. Words on the slide compete with your voice. If a line is not a title, a label or a caption, it belongs in your speaking notes.</a:t>
            </a:r>
            <a:endParaRPr lang="en-US" sz="1150" dirty="0"/>
          </a:p>
          <a:p>
            <a:pPr>
              <a:lnSpc>
                <a:spcPct val="114000"/>
              </a:lnSpc>
            </a:pPr>
            <a:endParaRPr lang="en-US" sz="1150" dirty="0">
              <a:latin typeface="Calibri" pitchFamily="34" charset="0"/>
              <a:ea typeface="Calibri" pitchFamily="34" charset="-122"/>
              <a:cs typeface="Calibri" pitchFamily="34" charset="-120"/>
            </a:endParaRPr>
          </a:p>
          <a:p>
            <a:pPr>
              <a:lnSpc>
                <a:spcPct val="114000"/>
              </a:lnSpc>
            </a:pPr>
            <a:endParaRPr lang="en-US" sz="1150" dirty="0">
              <a:latin typeface="Calibri" pitchFamily="34" charset="0"/>
              <a:ea typeface="Calibri" pitchFamily="34" charset="-122"/>
              <a:cs typeface="Calibri" pitchFamily="34" charset="-120"/>
            </a:endParaRPr>
          </a:p>
          <a:p>
            <a:pPr>
              <a:lnSpc>
                <a:spcPct val="114000"/>
              </a:lnSpc>
            </a:pPr>
            <a:endParaRPr lang="en-US" sz="1150" dirty="0"/>
          </a:p>
          <a:p>
            <a:pPr>
              <a:lnSpc>
                <a:spcPct val="114000"/>
              </a:lnSpc>
            </a:pPr>
            <a:endParaRPr lang="en-US" sz="1150" dirty="0"/>
          </a:p>
          <a:p>
            <a:pPr marL="0" indent="0">
              <a:lnSpc>
                <a:spcPct val="114000"/>
              </a:lnSpc>
              <a:buNone/>
            </a:pPr>
            <a:endParaRPr lang="en-US" sz="1150" dirty="0"/>
          </a:p>
        </p:txBody>
      </p:sp>
      <p:sp>
        <p:nvSpPr>
          <p:cNvPr id="32" name="Text 1">
            <a:extLst>
              <a:ext uri="{FF2B5EF4-FFF2-40B4-BE49-F238E27FC236}">
                <a16:creationId xmlns:a16="http://schemas.microsoft.com/office/drawing/2014/main" id="{40C80D6D-B537-5950-8BDC-88A73ED65B32}"/>
              </a:ext>
            </a:extLst>
          </p:cNvPr>
          <p:cNvSpPr txBox="1"/>
          <p:nvPr/>
        </p:nvSpPr>
        <p:spPr>
          <a:xfrm>
            <a:off x="457200" y="4006778"/>
            <a:ext cx="11277295" cy="566928"/>
          </a:xfrm>
          <a:prstGeom prst="rect">
            <a:avLst/>
          </a:prstGeom>
          <a:noFill/>
          <a:ln/>
        </p:spPr>
        <p:txBody>
          <a:bodyPr wrap="square" lIns="0" tIns="0" rIns="0" bIns="0" rtlCol="0" anchor="ctr"/>
          <a:lstStyle/>
          <a:p>
            <a:pPr marL="0" indent="0">
              <a:buNone/>
            </a:pPr>
            <a:r>
              <a:rPr lang="en-US" sz="3200" b="1" dirty="0">
                <a:latin typeface="Cambria" pitchFamily="34" charset="0"/>
                <a:ea typeface="Cambria" pitchFamily="34" charset="-122"/>
                <a:cs typeface="Cambria" pitchFamily="34" charset="-120"/>
              </a:rPr>
              <a:t>Guidance for delivering the talk</a:t>
            </a:r>
            <a:endParaRPr lang="en-US" sz="3200" dirty="0"/>
          </a:p>
        </p:txBody>
      </p:sp>
      <p:sp>
        <p:nvSpPr>
          <p:cNvPr id="34" name="Text 2">
            <a:extLst>
              <a:ext uri="{FF2B5EF4-FFF2-40B4-BE49-F238E27FC236}">
                <a16:creationId xmlns:a16="http://schemas.microsoft.com/office/drawing/2014/main" id="{3E8FCDDE-6909-A854-CC5C-CE84BB4BDB7B}"/>
              </a:ext>
            </a:extLst>
          </p:cNvPr>
          <p:cNvSpPr txBox="1"/>
          <p:nvPr/>
        </p:nvSpPr>
        <p:spPr>
          <a:xfrm>
            <a:off x="623624" y="4673546"/>
            <a:ext cx="11366205" cy="488455"/>
          </a:xfrm>
          <a:prstGeom prst="rect">
            <a:avLst/>
          </a:prstGeom>
          <a:noFill/>
          <a:ln/>
        </p:spPr>
        <p:txBody>
          <a:bodyPr wrap="square" lIns="0" tIns="0" rIns="0" bIns="0" rtlCol="0" anchor="ctr"/>
          <a:lstStyle/>
          <a:p>
            <a:pPr marL="0" indent="0">
              <a:buNone/>
            </a:pPr>
            <a:r>
              <a:rPr lang="en-US" sz="1250" i="1" dirty="0">
                <a:latin typeface="Calibri" pitchFamily="34" charset="0"/>
                <a:ea typeface="Calibri" pitchFamily="34" charset="-122"/>
                <a:cs typeface="Calibri" pitchFamily="34" charset="-120"/>
              </a:rPr>
              <a:t>Two minutes is about 260 spoken words. Below is a recommended, approximate time budget. Two thirds of your time goes on the two pictures. </a:t>
            </a:r>
            <a:br>
              <a:rPr lang="en-US" sz="1250" i="1" dirty="0">
                <a:latin typeface="Calibri" pitchFamily="34" charset="0"/>
                <a:ea typeface="Calibri" pitchFamily="34" charset="-122"/>
                <a:cs typeface="Calibri" pitchFamily="34" charset="-120"/>
              </a:rPr>
            </a:br>
            <a:r>
              <a:rPr lang="en-US" sz="1250" i="1" dirty="0">
                <a:latin typeface="Calibri" pitchFamily="34" charset="0"/>
                <a:ea typeface="Calibri" pitchFamily="34" charset="-122"/>
                <a:cs typeface="Calibri" pitchFamily="34" charset="-120"/>
              </a:rPr>
              <a:t>Say what is drawn before you say what it means — name the axes, the conditions, and what one data point is, then interpret.</a:t>
            </a:r>
          </a:p>
          <a:p>
            <a:pPr marL="0" indent="0">
              <a:buNone/>
            </a:pPr>
            <a:endParaRPr lang="en-US" sz="1250" dirty="0"/>
          </a:p>
        </p:txBody>
      </p:sp>
      <p:sp>
        <p:nvSpPr>
          <p:cNvPr id="36" name="Shape 3">
            <a:extLst>
              <a:ext uri="{FF2B5EF4-FFF2-40B4-BE49-F238E27FC236}">
                <a16:creationId xmlns:a16="http://schemas.microsoft.com/office/drawing/2014/main" id="{10BEC2A4-0D7C-D5BF-8BC8-896C7F488FEC}"/>
              </a:ext>
            </a:extLst>
          </p:cNvPr>
          <p:cNvSpPr/>
          <p:nvPr/>
        </p:nvSpPr>
        <p:spPr>
          <a:xfrm>
            <a:off x="457200" y="5102352"/>
            <a:ext cx="1385659" cy="334930"/>
          </a:xfrm>
          <a:prstGeom prst="roundRect">
            <a:avLst>
              <a:gd name="adj" fmla="val 8065"/>
            </a:avLst>
          </a:prstGeom>
          <a:solidFill>
            <a:srgbClr val="506374"/>
          </a:solidFill>
          <a:ln w="12700">
            <a:solidFill>
              <a:srgbClr val="506374"/>
            </a:solidFill>
            <a:prstDash val="solid"/>
          </a:ln>
        </p:spPr>
        <p:txBody>
          <a:bodyPr/>
          <a:lstStyle/>
          <a:p>
            <a:endParaRPr lang="en-US"/>
          </a:p>
        </p:txBody>
      </p:sp>
      <p:sp>
        <p:nvSpPr>
          <p:cNvPr id="38" name="Text 4">
            <a:extLst>
              <a:ext uri="{FF2B5EF4-FFF2-40B4-BE49-F238E27FC236}">
                <a16:creationId xmlns:a16="http://schemas.microsoft.com/office/drawing/2014/main" id="{A3683D0E-D88D-0491-563C-A9C4AC669C88}"/>
              </a:ext>
            </a:extLst>
          </p:cNvPr>
          <p:cNvSpPr txBox="1"/>
          <p:nvPr/>
        </p:nvSpPr>
        <p:spPr>
          <a:xfrm>
            <a:off x="457200" y="5102352"/>
            <a:ext cx="1385659" cy="334930"/>
          </a:xfrm>
          <a:prstGeom prst="rect">
            <a:avLst/>
          </a:prstGeom>
          <a:noFill/>
          <a:ln/>
        </p:spPr>
        <p:txBody>
          <a:bodyPr wrap="square" lIns="0" tIns="0" rIns="0" bIns="0" rtlCol="0" anchor="ctr"/>
          <a:lstStyle/>
          <a:p>
            <a:pPr marL="0" indent="0" algn="ctr">
              <a:buNone/>
            </a:pPr>
            <a:r>
              <a:rPr lang="en-US" sz="1400" b="1" dirty="0">
                <a:solidFill>
                  <a:srgbClr val="F2F5F7"/>
                </a:solidFill>
                <a:latin typeface="Calibri" pitchFamily="34" charset="0"/>
                <a:ea typeface="Calibri" pitchFamily="34" charset="-122"/>
                <a:cs typeface="Calibri" pitchFamily="34" charset="-120"/>
              </a:rPr>
              <a:t>15 s</a:t>
            </a:r>
            <a:endParaRPr lang="en-US" sz="1400" dirty="0"/>
          </a:p>
        </p:txBody>
      </p:sp>
      <p:sp>
        <p:nvSpPr>
          <p:cNvPr id="40" name="Text 5">
            <a:extLst>
              <a:ext uri="{FF2B5EF4-FFF2-40B4-BE49-F238E27FC236}">
                <a16:creationId xmlns:a16="http://schemas.microsoft.com/office/drawing/2014/main" id="{FD4CA942-BB65-1CFB-60FD-DF82D1671932}"/>
              </a:ext>
            </a:extLst>
          </p:cNvPr>
          <p:cNvSpPr txBox="1"/>
          <p:nvPr/>
        </p:nvSpPr>
        <p:spPr>
          <a:xfrm>
            <a:off x="182880" y="5457379"/>
            <a:ext cx="1934299" cy="274320"/>
          </a:xfrm>
          <a:prstGeom prst="rect">
            <a:avLst/>
          </a:prstGeom>
          <a:noFill/>
          <a:ln/>
        </p:spPr>
        <p:txBody>
          <a:bodyPr wrap="square" lIns="0" tIns="0" rIns="0" bIns="0" rtlCol="0" anchor="ctr"/>
          <a:lstStyle/>
          <a:p>
            <a:pPr marL="0" indent="0" algn="ctr">
              <a:buNone/>
            </a:pPr>
            <a:r>
              <a:rPr lang="en-US" sz="1100" dirty="0">
                <a:latin typeface="Calibri" pitchFamily="34" charset="0"/>
                <a:ea typeface="Calibri" pitchFamily="34" charset="-122"/>
                <a:cs typeface="Calibri" pitchFamily="34" charset="-120"/>
              </a:rPr>
              <a:t>Question</a:t>
            </a:r>
            <a:endParaRPr lang="en-US" sz="1100" dirty="0"/>
          </a:p>
        </p:txBody>
      </p:sp>
      <p:sp>
        <p:nvSpPr>
          <p:cNvPr id="42" name="Shape 6">
            <a:extLst>
              <a:ext uri="{FF2B5EF4-FFF2-40B4-BE49-F238E27FC236}">
                <a16:creationId xmlns:a16="http://schemas.microsoft.com/office/drawing/2014/main" id="{12080938-5B93-C523-AE31-64CE89913977}"/>
              </a:ext>
            </a:extLst>
          </p:cNvPr>
          <p:cNvSpPr/>
          <p:nvPr/>
        </p:nvSpPr>
        <p:spPr>
          <a:xfrm>
            <a:off x="1906867" y="5102352"/>
            <a:ext cx="2771318" cy="334930"/>
          </a:xfrm>
          <a:prstGeom prst="roundRect">
            <a:avLst>
              <a:gd name="adj" fmla="val 8065"/>
            </a:avLst>
          </a:prstGeom>
          <a:solidFill>
            <a:srgbClr val="6C8395"/>
          </a:solidFill>
          <a:ln w="12700">
            <a:solidFill>
              <a:srgbClr val="6C8395"/>
            </a:solidFill>
            <a:prstDash val="solid"/>
          </a:ln>
        </p:spPr>
        <p:txBody>
          <a:bodyPr/>
          <a:lstStyle/>
          <a:p>
            <a:endParaRPr lang="en-US"/>
          </a:p>
        </p:txBody>
      </p:sp>
      <p:sp>
        <p:nvSpPr>
          <p:cNvPr id="44" name="Text 7">
            <a:extLst>
              <a:ext uri="{FF2B5EF4-FFF2-40B4-BE49-F238E27FC236}">
                <a16:creationId xmlns:a16="http://schemas.microsoft.com/office/drawing/2014/main" id="{3FE9EABD-54F7-91B4-0539-FDF66AD8C3E6}"/>
              </a:ext>
            </a:extLst>
          </p:cNvPr>
          <p:cNvSpPr txBox="1"/>
          <p:nvPr/>
        </p:nvSpPr>
        <p:spPr>
          <a:xfrm>
            <a:off x="1906867" y="5102352"/>
            <a:ext cx="2771318" cy="334930"/>
          </a:xfrm>
          <a:prstGeom prst="rect">
            <a:avLst/>
          </a:prstGeom>
          <a:noFill/>
          <a:ln/>
        </p:spPr>
        <p:txBody>
          <a:bodyPr wrap="square" lIns="0" tIns="0" rIns="0" bIns="0" rtlCol="0" anchor="ctr"/>
          <a:lstStyle/>
          <a:p>
            <a:pPr marL="0" indent="0" algn="ctr">
              <a:buNone/>
            </a:pPr>
            <a:r>
              <a:rPr lang="en-US" sz="1400" b="1" dirty="0">
                <a:solidFill>
                  <a:srgbClr val="F2F5F7"/>
                </a:solidFill>
                <a:latin typeface="Calibri" pitchFamily="34" charset="0"/>
                <a:ea typeface="Calibri" pitchFamily="34" charset="-122"/>
                <a:cs typeface="Calibri" pitchFamily="34" charset="-120"/>
              </a:rPr>
              <a:t>30 s</a:t>
            </a:r>
            <a:endParaRPr lang="en-US" sz="1400" dirty="0"/>
          </a:p>
        </p:txBody>
      </p:sp>
      <p:sp>
        <p:nvSpPr>
          <p:cNvPr id="46" name="Text 8">
            <a:extLst>
              <a:ext uri="{FF2B5EF4-FFF2-40B4-BE49-F238E27FC236}">
                <a16:creationId xmlns:a16="http://schemas.microsoft.com/office/drawing/2014/main" id="{97780526-CF2E-1E50-4C57-6DCE4320BE23}"/>
              </a:ext>
            </a:extLst>
          </p:cNvPr>
          <p:cNvSpPr txBox="1"/>
          <p:nvPr/>
        </p:nvSpPr>
        <p:spPr>
          <a:xfrm>
            <a:off x="1632547" y="5457379"/>
            <a:ext cx="3319958" cy="274320"/>
          </a:xfrm>
          <a:prstGeom prst="rect">
            <a:avLst/>
          </a:prstGeom>
          <a:noFill/>
          <a:ln/>
        </p:spPr>
        <p:txBody>
          <a:bodyPr wrap="square" lIns="0" tIns="0" rIns="0" bIns="0" rtlCol="0" anchor="ctr"/>
          <a:lstStyle/>
          <a:p>
            <a:pPr marL="0" indent="0" algn="ctr">
              <a:buNone/>
            </a:pPr>
            <a:r>
              <a:rPr lang="en-US" sz="1100" dirty="0">
                <a:latin typeface="Calibri" pitchFamily="34" charset="0"/>
                <a:ea typeface="Calibri" pitchFamily="34" charset="-122"/>
                <a:cs typeface="Calibri" pitchFamily="34" charset="-120"/>
              </a:rPr>
              <a:t>Approach — talk through the schematic</a:t>
            </a:r>
            <a:endParaRPr lang="en-US" sz="1100" dirty="0"/>
          </a:p>
        </p:txBody>
      </p:sp>
      <p:sp>
        <p:nvSpPr>
          <p:cNvPr id="48" name="Shape 9">
            <a:extLst>
              <a:ext uri="{FF2B5EF4-FFF2-40B4-BE49-F238E27FC236}">
                <a16:creationId xmlns:a16="http://schemas.microsoft.com/office/drawing/2014/main" id="{26951102-9E03-847B-B9E4-CD046723C919}"/>
              </a:ext>
            </a:extLst>
          </p:cNvPr>
          <p:cNvSpPr/>
          <p:nvPr/>
        </p:nvSpPr>
        <p:spPr>
          <a:xfrm>
            <a:off x="4742193" y="5102352"/>
            <a:ext cx="4618863" cy="334930"/>
          </a:xfrm>
          <a:prstGeom prst="roundRect">
            <a:avLst>
              <a:gd name="adj" fmla="val 8065"/>
            </a:avLst>
          </a:prstGeom>
          <a:solidFill>
            <a:srgbClr val="F0925A"/>
          </a:solidFill>
          <a:ln w="12700">
            <a:solidFill>
              <a:srgbClr val="F0925A"/>
            </a:solidFill>
            <a:prstDash val="solid"/>
          </a:ln>
        </p:spPr>
        <p:txBody>
          <a:bodyPr/>
          <a:lstStyle/>
          <a:p>
            <a:endParaRPr lang="en-US"/>
          </a:p>
        </p:txBody>
      </p:sp>
      <p:sp>
        <p:nvSpPr>
          <p:cNvPr id="50" name="Text 10">
            <a:extLst>
              <a:ext uri="{FF2B5EF4-FFF2-40B4-BE49-F238E27FC236}">
                <a16:creationId xmlns:a16="http://schemas.microsoft.com/office/drawing/2014/main" id="{7D928A05-48A6-BE0B-101F-700781133A4E}"/>
              </a:ext>
            </a:extLst>
          </p:cNvPr>
          <p:cNvSpPr txBox="1"/>
          <p:nvPr/>
        </p:nvSpPr>
        <p:spPr>
          <a:xfrm>
            <a:off x="4742193" y="5102352"/>
            <a:ext cx="4618863" cy="334930"/>
          </a:xfrm>
          <a:prstGeom prst="rect">
            <a:avLst/>
          </a:prstGeom>
          <a:noFill/>
          <a:ln/>
        </p:spPr>
        <p:txBody>
          <a:bodyPr wrap="square" lIns="0" tIns="0" rIns="0" bIns="0" rtlCol="0" anchor="ctr"/>
          <a:lstStyle/>
          <a:p>
            <a:pPr marL="0" indent="0" algn="ctr">
              <a:buNone/>
            </a:pPr>
            <a:r>
              <a:rPr lang="en-US" sz="1400" b="1" dirty="0">
                <a:solidFill>
                  <a:srgbClr val="162A3A"/>
                </a:solidFill>
                <a:latin typeface="Calibri" pitchFamily="34" charset="0"/>
                <a:ea typeface="Calibri" pitchFamily="34" charset="-122"/>
                <a:cs typeface="Calibri" pitchFamily="34" charset="-120"/>
              </a:rPr>
              <a:t>50 s</a:t>
            </a:r>
            <a:endParaRPr lang="en-US" sz="1400" dirty="0"/>
          </a:p>
        </p:txBody>
      </p:sp>
      <p:sp>
        <p:nvSpPr>
          <p:cNvPr id="52" name="Text 11">
            <a:extLst>
              <a:ext uri="{FF2B5EF4-FFF2-40B4-BE49-F238E27FC236}">
                <a16:creationId xmlns:a16="http://schemas.microsoft.com/office/drawing/2014/main" id="{84BB5E0D-DD09-229D-67DE-6D7BA26B3C35}"/>
              </a:ext>
            </a:extLst>
          </p:cNvPr>
          <p:cNvSpPr txBox="1"/>
          <p:nvPr/>
        </p:nvSpPr>
        <p:spPr>
          <a:xfrm>
            <a:off x="4467873" y="5457379"/>
            <a:ext cx="5167503" cy="274320"/>
          </a:xfrm>
          <a:prstGeom prst="rect">
            <a:avLst/>
          </a:prstGeom>
          <a:noFill/>
          <a:ln/>
        </p:spPr>
        <p:txBody>
          <a:bodyPr wrap="square" lIns="0" tIns="0" rIns="0" bIns="0" rtlCol="0" anchor="ctr"/>
          <a:lstStyle/>
          <a:p>
            <a:pPr marL="0" indent="0" algn="ctr">
              <a:buNone/>
            </a:pPr>
            <a:r>
              <a:rPr lang="en-US" sz="1100" dirty="0">
                <a:latin typeface="Calibri" pitchFamily="34" charset="0"/>
                <a:ea typeface="Calibri" pitchFamily="34" charset="-122"/>
                <a:cs typeface="Calibri" pitchFamily="34" charset="-120"/>
              </a:rPr>
              <a:t>Result — talk through the figure</a:t>
            </a:r>
            <a:endParaRPr lang="en-US" sz="1100" dirty="0"/>
          </a:p>
        </p:txBody>
      </p:sp>
      <p:sp>
        <p:nvSpPr>
          <p:cNvPr id="54" name="Shape 12">
            <a:extLst>
              <a:ext uri="{FF2B5EF4-FFF2-40B4-BE49-F238E27FC236}">
                <a16:creationId xmlns:a16="http://schemas.microsoft.com/office/drawing/2014/main" id="{9256FD21-C55E-5F80-58C5-604276D4AEA5}"/>
              </a:ext>
            </a:extLst>
          </p:cNvPr>
          <p:cNvSpPr/>
          <p:nvPr/>
        </p:nvSpPr>
        <p:spPr>
          <a:xfrm>
            <a:off x="9425064" y="5102352"/>
            <a:ext cx="2309432" cy="334930"/>
          </a:xfrm>
          <a:prstGeom prst="roundRect">
            <a:avLst>
              <a:gd name="adj" fmla="val 8065"/>
            </a:avLst>
          </a:prstGeom>
          <a:solidFill>
            <a:srgbClr val="8FA3B2"/>
          </a:solidFill>
          <a:ln w="12700">
            <a:solidFill>
              <a:srgbClr val="8FA3B2"/>
            </a:solidFill>
            <a:prstDash val="solid"/>
          </a:ln>
        </p:spPr>
        <p:txBody>
          <a:bodyPr/>
          <a:lstStyle/>
          <a:p>
            <a:endParaRPr lang="en-US"/>
          </a:p>
        </p:txBody>
      </p:sp>
      <p:sp>
        <p:nvSpPr>
          <p:cNvPr id="56" name="Text 13">
            <a:extLst>
              <a:ext uri="{FF2B5EF4-FFF2-40B4-BE49-F238E27FC236}">
                <a16:creationId xmlns:a16="http://schemas.microsoft.com/office/drawing/2014/main" id="{8B652E3F-1AE0-C2BB-737C-B53B101F5916}"/>
              </a:ext>
            </a:extLst>
          </p:cNvPr>
          <p:cNvSpPr txBox="1"/>
          <p:nvPr/>
        </p:nvSpPr>
        <p:spPr>
          <a:xfrm>
            <a:off x="9425064" y="5102352"/>
            <a:ext cx="2309432" cy="334930"/>
          </a:xfrm>
          <a:prstGeom prst="rect">
            <a:avLst/>
          </a:prstGeom>
          <a:noFill/>
          <a:ln/>
        </p:spPr>
        <p:txBody>
          <a:bodyPr wrap="square" lIns="0" tIns="0" rIns="0" bIns="0" rtlCol="0" anchor="ctr"/>
          <a:lstStyle/>
          <a:p>
            <a:pPr marL="0" indent="0" algn="ctr">
              <a:buNone/>
            </a:pPr>
            <a:r>
              <a:rPr lang="en-US" sz="1400" b="1" dirty="0">
                <a:solidFill>
                  <a:srgbClr val="F2F5F7"/>
                </a:solidFill>
                <a:latin typeface="Calibri" pitchFamily="34" charset="0"/>
                <a:ea typeface="Calibri" pitchFamily="34" charset="-122"/>
                <a:cs typeface="Calibri" pitchFamily="34" charset="-120"/>
              </a:rPr>
              <a:t>25 s</a:t>
            </a:r>
            <a:endParaRPr lang="en-US" sz="1400" dirty="0"/>
          </a:p>
        </p:txBody>
      </p:sp>
      <p:sp>
        <p:nvSpPr>
          <p:cNvPr id="58" name="Text 14">
            <a:extLst>
              <a:ext uri="{FF2B5EF4-FFF2-40B4-BE49-F238E27FC236}">
                <a16:creationId xmlns:a16="http://schemas.microsoft.com/office/drawing/2014/main" id="{6A57248C-A94D-9C9B-D729-86D0A9F994CC}"/>
              </a:ext>
            </a:extLst>
          </p:cNvPr>
          <p:cNvSpPr txBox="1"/>
          <p:nvPr/>
        </p:nvSpPr>
        <p:spPr>
          <a:xfrm>
            <a:off x="9150744" y="5457379"/>
            <a:ext cx="2858072" cy="274320"/>
          </a:xfrm>
          <a:prstGeom prst="rect">
            <a:avLst/>
          </a:prstGeom>
          <a:noFill/>
          <a:ln/>
        </p:spPr>
        <p:txBody>
          <a:bodyPr wrap="square" lIns="0" tIns="0" rIns="0" bIns="0" rtlCol="0" anchor="ctr"/>
          <a:lstStyle/>
          <a:p>
            <a:pPr marL="0" indent="0" algn="ctr">
              <a:buNone/>
            </a:pPr>
            <a:r>
              <a:rPr lang="en-US" sz="1100" dirty="0">
                <a:latin typeface="Calibri" pitchFamily="34" charset="0"/>
                <a:ea typeface="Calibri" pitchFamily="34" charset="-122"/>
                <a:cs typeface="Calibri" pitchFamily="34" charset="-120"/>
              </a:rPr>
              <a:t>Takeaway + next</a:t>
            </a:r>
            <a:endParaRPr lang="en-US" sz="1100" dirty="0"/>
          </a:p>
        </p:txBody>
      </p:sp>
      <p:sp>
        <p:nvSpPr>
          <p:cNvPr id="62" name="Text 30">
            <a:extLst>
              <a:ext uri="{FF2B5EF4-FFF2-40B4-BE49-F238E27FC236}">
                <a16:creationId xmlns:a16="http://schemas.microsoft.com/office/drawing/2014/main" id="{41428D60-7168-D0C4-32D7-5BC7A5F1774A}"/>
              </a:ext>
            </a:extLst>
          </p:cNvPr>
          <p:cNvSpPr txBox="1"/>
          <p:nvPr/>
        </p:nvSpPr>
        <p:spPr>
          <a:xfrm>
            <a:off x="457199" y="5892188"/>
            <a:ext cx="11274553" cy="797767"/>
          </a:xfrm>
          <a:prstGeom prst="rect">
            <a:avLst/>
          </a:prstGeom>
          <a:noFill/>
          <a:ln/>
        </p:spPr>
        <p:txBody>
          <a:bodyPr wrap="square" lIns="0" tIns="0" rIns="0" bIns="0" rtlCol="0" anchor="t"/>
          <a:lstStyle/>
          <a:p>
            <a:pPr marL="171450" indent="-171450">
              <a:lnSpc>
                <a:spcPct val="112000"/>
              </a:lnSpc>
              <a:buFont typeface="Arial" panose="020B0604020202020204" pitchFamily="34" charset="0"/>
              <a:buChar char="•"/>
            </a:pPr>
            <a:r>
              <a:rPr lang="en-US" sz="1100" dirty="0">
                <a:latin typeface="Calibri" pitchFamily="34" charset="0"/>
                <a:ea typeface="Calibri" pitchFamily="34" charset="-122"/>
                <a:cs typeface="Calibri" pitchFamily="34" charset="-120"/>
              </a:rPr>
              <a:t>Practice it out loud a few times and time it. A silent practice run typically is too fast. </a:t>
            </a:r>
          </a:p>
          <a:p>
            <a:pPr marL="171450" indent="-171450">
              <a:lnSpc>
                <a:spcPct val="112000"/>
              </a:lnSpc>
              <a:buFont typeface="Arial" panose="020B0604020202020204" pitchFamily="34" charset="0"/>
              <a:buChar char="•"/>
            </a:pPr>
            <a:r>
              <a:rPr lang="en-US" sz="1100" dirty="0">
                <a:latin typeface="Calibri" pitchFamily="34" charset="0"/>
                <a:ea typeface="Calibri" pitchFamily="34" charset="-122"/>
                <a:cs typeface="Calibri" pitchFamily="34" charset="-120"/>
              </a:rPr>
              <a:t>Separate observation from interpretation. “The width grew along the table” and “the table is a trapezoid” are different claims. </a:t>
            </a:r>
          </a:p>
          <a:p>
            <a:pPr marL="171450" indent="-171450">
              <a:lnSpc>
                <a:spcPct val="112000"/>
              </a:lnSpc>
              <a:buFont typeface="Arial" panose="020B0604020202020204" pitchFamily="34" charset="0"/>
              <a:buChar char="•"/>
            </a:pPr>
            <a:r>
              <a:rPr lang="en-US" sz="1100" dirty="0">
                <a:latin typeface="Calibri" pitchFamily="34" charset="0"/>
                <a:ea typeface="Calibri" pitchFamily="34" charset="-122"/>
                <a:cs typeface="Calibri" pitchFamily="34" charset="-120"/>
              </a:rPr>
              <a:t>Say plainly what you do not know. A clearly stated limitation reads as competence. Overclaiming is the fastest way to lose your audience.</a:t>
            </a:r>
          </a:p>
          <a:p>
            <a:pPr marL="171450" indent="-171450">
              <a:lnSpc>
                <a:spcPct val="112000"/>
              </a:lnSpc>
              <a:buFont typeface="Arial" panose="020B0604020202020204" pitchFamily="34" charset="0"/>
              <a:buChar char="•"/>
            </a:pPr>
            <a:r>
              <a:rPr lang="en-US" sz="1100" dirty="0">
                <a:latin typeface="Calibri" pitchFamily="34" charset="0"/>
                <a:ea typeface="Calibri" pitchFamily="34" charset="-122"/>
                <a:cs typeface="Calibri" pitchFamily="34" charset="-120"/>
              </a:rPr>
              <a:t>Don’t be afraid to show a messy result. A systematic error you found but could not fully remove makes a better talk than a clean number. Say what you would do next.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21566-B99F-019E-D448-88551E37D96E}"/>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E05225C5-2E65-4D9F-9D94-B58C188F5ECE}"/>
              </a:ext>
            </a:extLst>
          </p:cNvPr>
          <p:cNvSpPr txBox="1"/>
          <p:nvPr/>
        </p:nvSpPr>
        <p:spPr>
          <a:xfrm>
            <a:off x="457200" y="566928"/>
            <a:ext cx="11277295" cy="566928"/>
          </a:xfrm>
          <a:prstGeom prst="rect">
            <a:avLst/>
          </a:prstGeom>
          <a:noFill/>
          <a:ln/>
        </p:spPr>
        <p:txBody>
          <a:bodyPr wrap="square" lIns="0" tIns="0" rIns="0" bIns="0" rtlCol="0" anchor="ctr"/>
          <a:lstStyle/>
          <a:p>
            <a:pPr marL="0" indent="0">
              <a:buNone/>
            </a:pPr>
            <a:r>
              <a:rPr lang="en-US" sz="3200" b="1" dirty="0">
                <a:latin typeface="Cambria" pitchFamily="34" charset="0"/>
                <a:ea typeface="Cambria" pitchFamily="34" charset="-122"/>
                <a:cs typeface="Cambria" pitchFamily="34" charset="-120"/>
              </a:rPr>
              <a:t>Disclosure statement</a:t>
            </a:r>
            <a:endParaRPr lang="en-US" sz="3200" dirty="0"/>
          </a:p>
        </p:txBody>
      </p:sp>
      <p:sp>
        <p:nvSpPr>
          <p:cNvPr id="8" name="Text 6">
            <a:extLst>
              <a:ext uri="{FF2B5EF4-FFF2-40B4-BE49-F238E27FC236}">
                <a16:creationId xmlns:a16="http://schemas.microsoft.com/office/drawing/2014/main" id="{51E4649A-3A35-2F49-C5C0-478D9D54EC74}"/>
              </a:ext>
            </a:extLst>
          </p:cNvPr>
          <p:cNvSpPr txBox="1"/>
          <p:nvPr/>
        </p:nvSpPr>
        <p:spPr>
          <a:xfrm>
            <a:off x="457200" y="1554054"/>
            <a:ext cx="10614314" cy="3038727"/>
          </a:xfrm>
          <a:prstGeom prst="rect">
            <a:avLst/>
          </a:prstGeom>
          <a:noFill/>
          <a:ln/>
        </p:spPr>
        <p:txBody>
          <a:bodyPr wrap="square" lIns="0" tIns="0" rIns="0" bIns="0" rtlCol="0" anchor="t"/>
          <a:lstStyle/>
          <a:p>
            <a:pPr>
              <a:lnSpc>
                <a:spcPct val="114000"/>
              </a:lnSpc>
            </a:pPr>
            <a:r>
              <a:rPr lang="en-US" sz="1150" dirty="0">
                <a:latin typeface="Calibri" pitchFamily="34" charset="0"/>
                <a:ea typeface="Calibri" pitchFamily="34" charset="-122"/>
                <a:cs typeface="Calibri" pitchFamily="34" charset="-120"/>
              </a:rPr>
              <a:t>To create this lightning talk template file, the Physics 50 teaching team fabricated experimental data and used generative AI to create the initial file. We iterated on that initial file in several subsequent revisions and instructor meetings to create the template for your use in Physics 50. </a:t>
            </a:r>
          </a:p>
          <a:p>
            <a:pPr>
              <a:lnSpc>
                <a:spcPct val="114000"/>
              </a:lnSpc>
            </a:pPr>
            <a:endParaRPr lang="en-US" sz="1150" dirty="0">
              <a:latin typeface="Calibri" pitchFamily="34" charset="0"/>
              <a:ea typeface="Calibri" pitchFamily="34" charset="-122"/>
              <a:cs typeface="Calibri" pitchFamily="34" charset="-120"/>
            </a:endParaRPr>
          </a:p>
          <a:p>
            <a:pPr>
              <a:lnSpc>
                <a:spcPct val="100000"/>
              </a:lnSpc>
            </a:pPr>
            <a:r>
              <a:rPr lang="en-US" sz="1150" dirty="0"/>
              <a:t>We acknowledge that it may seem unfair for us to use generative AI in developing this template to help you prepare for your oral report, while prohibiting you from using AI to assist you to analyze your data and understand your experiment. On careful reflection, we hope you will recognize that a key learning goal of this course is to teach you to analyze data and judge results carefully and that you will not develop this skill by outsourcing that judgment to AI. In providing you these templates, our goal is to give you a tool to focus on course content and not spend time on the formatting of your presentation. </a:t>
            </a:r>
          </a:p>
        </p:txBody>
      </p:sp>
    </p:spTree>
    <p:extLst>
      <p:ext uri="{BB962C8B-B14F-4D97-AF65-F5344CB8AC3E}">
        <p14:creationId xmlns:p14="http://schemas.microsoft.com/office/powerpoint/2010/main" val="9774942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4727</TotalTime>
  <Words>1209</Words>
  <Application>Microsoft Office PowerPoint</Application>
  <PresentationFormat>Widescreen</PresentationFormat>
  <Paragraphs>120</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Cambria</vt:lpstr>
      <vt:lpstr>Cambria Math</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One-Slide Lightning Talk Template</dc:title>
  <dc:subject>PptxGenJS Presentation</dc:subject>
  <dc:creator>Course staff</dc:creator>
  <cp:lastModifiedBy>Mark Ilton</cp:lastModifiedBy>
  <cp:revision>17</cp:revision>
  <dcterms:created xsi:type="dcterms:W3CDTF">2026-09-04T16:54:10Z</dcterms:created>
  <dcterms:modified xsi:type="dcterms:W3CDTF">2026-09-23T16:57:29Z</dcterms:modified>
</cp:coreProperties>
</file>